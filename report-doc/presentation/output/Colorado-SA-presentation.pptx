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a back-office system for Colorado Company Limited. My name is ... and my teammates are ... 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Colorado Company Limited sells imported and OEM products on Rakuten Ichiba in Japan, such as fishing lures, outdoor goods and Thai herbal inhalers. The business started in 2009 and is run by one owner. Rakuten Super Logistics, or RSL, keeps the stock and ships the parcels. The problem is that every order is handled by hand: checking orders, checking stock, matching with RSL, printing labels, sending tracking numbers, deciding reorders and calculating unit cost. Our system automates the repetitive steps, but the owner still approves every decision that spends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เราจะเล่า 4 ส่วน เริ่มจากปัญหาของร้าน ต่อด้วย Business Process และ Use Case จากนั้นเป็นการออกแบบระบบ และจบที่การพัฒนาและผลการทดสอบ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ร้านขาย 5-10 ชิ้นต่อวัน ทุกออเดอร์ต้องผ่าน 5 งานมือ รวมประมาณ 12 นาทีต่อออเดอร์ หรือ 1-2 ชั่วโมงต่อวัน ตัวเลขนี้เป็นค่าประมาณจากที่เจ้าของเล่า นอกจากนี้ค่าส่งเองแพงกว่าคู่แข่ง 400 เยนต่อชิ้น จึงต้องคำนวณต้นทุนให้แม่นก่อนตัดสินใจ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เป้าหมายคือระบบอัตโนมัติ 3 เรื่อง ใบปะ การสั่งซื้อเติม และต้นทุนต่อหน่วย ขอบเขตเฟส 1 เฉพาะ Rakuten และ RSL จุดออกแบบสำคัญคือ human-in-the-loop การสั่งซื้อที่ใช้เงินจริงต้องให้เจ้าของกดอนุมัติก่อนเสมอ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Process เดิม Super Admin ทำทุกขั้นเอง จุดสีแดงคือปัญหา 4 จุด จับคู่สต๊อก คำนวณความคุ้มค่า จัดรูปแบบใบปะ และติดตามพัสดุ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Process ใหม่ แยก lane ระบบออกมา ระบบรับงานซ้ำ ส่วนคนยังตัดสินใจขั้นที่สำคัญ โดยเฉพาะการสั่งซื้อจาก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หลังวิเคราะห์ CRUD Table พบ Use Case ที่ขาด เช่น ตรวจคำสั่งซื้อ จับคู่กฎ SKU ตัดสต๊อก และลบข้อมูลเก่า รวมเป็น 17 Use Case Admin 10 และระบบ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ตัวอย่าง Use Case 5A ระบบคำนวณต้นทุนและกำไรที่คาดให้ แต่ปุ่มคุ้มค่าหรือไม่คุ้มค่าต้องให้เจ้าของกดเอง ทุก query มีเลขตาม Use Case เช่น Q5A.1 ถึง Q5A.5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Diagram ได้จาก object ทุกตัวใน Sequence Diagram แบ่งเป็น 15 รูปตามกลุ่มงาน มีความสัมพันธ์ครบ 4 แบบ สืบทอด association dependency และ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Diagram ของ Order ทุกเส้นมีเงื่อนไข event และ Use Case ที่ทำ และกำกับ query ที่ UPDATE สถานะ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Diagram มี 15 entity ชื่อตรงกับ CRUD Table เส้นคู่คือ total participation ทางขวาคือ ER พร้อม query สีแดงบอกว่า query ไหนใช้ entity ไหน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Diagram ระบบรับส่งข้อมูลกับ 5 external entity Level 0 แบ่งเป็น 6 process ตามกลุ่ม Use Case และ data store 9 กลุ่ม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พัฒนาด้วย Next.js React TypeScript ฐานข้อมูล PostgreSQL เชื่อม Rakuten RMS และ RSL Component Diagram แสดงการรวมคลาสเป็น FrontEnd BackEnd และ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map มี root คือหน้า Login ผู้ใช้คนเดียวคือ Admin ชื่อหน้าจอตรงกับ Screen object ใน Sequence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รายงานใบปะสินค้าสร้างจาก 6S และพิมพ์จาก 9A รายงานต้นทุนต่อหน่วยมาจาก 4S ใช้สูตร Q4S.2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ทั้งหมด 63 คำสั่ง รันกับ PostgreSQL ด้วยข้อมูลตัวอย่างผ่านทุกข้อ และทดสอบเว็บตาม Use Case Description 34 กรณี ผ่านทุกกรณี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สรุป ระบบช่วยลดงานมือที่ซ้ำ แต่ยังให้เจ้าของคุมการตัดสินใจเรื่องเงิน ขั้นต่อไปคือต่อฐานข้อมูลและ API 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ขอบคุณครับ เปิดให้ถามคำถาม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FFFFFF"/>
          </a:solidFill>
          <a:ln/>
        </p:spPr>
      </p:sp>
      <p:sp>
        <p:nvSpPr>
          <p:cNvPr id="3" name="Shape 1"/>
          <p:cNvSpPr/>
          <p:nvPr/>
        </p:nvSpPr>
        <p:spPr>
          <a:xfrm>
            <a:off x="0" y="1143000"/>
            <a:ext cx="12191695" cy="0"/>
          </a:xfrm>
          <a:prstGeom prst="line">
            <a:avLst/>
          </a:prstGeom>
          <a:noFill/>
          <a:ln w="9525">
            <a:solidFill>
              <a:srgbClr val="DDDEDE"/>
            </a:solidFill>
            <a:prstDash val="solid"/>
          </a:ln>
        </p:spPr>
      </p:sp>
      <p:sp>
        <p:nvSpPr>
          <p:cNvPr id="4" name="Shape 2"/>
          <p:cNvSpPr/>
          <p:nvPr/>
        </p:nvSpPr>
        <p:spPr>
          <a:xfrm>
            <a:off x="502920" y="329184"/>
            <a:ext cx="64008" cy="548640"/>
          </a:xfrm>
          <a:prstGeom prst="rect">
            <a:avLst/>
          </a:prstGeom>
          <a:solidFill>
            <a:srgbClr val="FF5A36"/>
          </a:solidFill>
          <a:ln/>
        </p:spPr>
      </p:sp>
      <p:sp>
        <p:nvSpPr>
          <p:cNvPr id="5" name="Shape 3"/>
          <p:cNvSpPr/>
          <p:nvPr/>
        </p:nvSpPr>
        <p:spPr>
          <a:xfrm>
            <a:off x="0" y="6492240"/>
            <a:ext cx="12191695" cy="365760"/>
          </a:xfrm>
          <a:prstGeom prst="rect">
            <a:avLst/>
          </a:prstGeom>
          <a:solidFill>
            <a:srgbClr val="292A2E"/>
          </a:solidFill>
          <a:ln/>
        </p:spPr>
      </p:sp>
      <p:sp>
        <p:nvSpPr>
          <p:cNvPr id="6" name="Text 4"/>
          <p:cNvSpPr/>
          <p:nvPr/>
        </p:nvSpPr>
        <p:spPr>
          <a:xfrm>
            <a:off x="7680960" y="6492240"/>
            <a:ext cx="3200400" cy="365760"/>
          </a:xfrm>
          <a:prstGeom prst="rect">
            <a:avLst/>
          </a:prstGeom>
          <a:noFill/>
          <a:ln/>
        </p:spPr>
        <p:txBody>
          <a:bodyPr wrap="square" rtlCol="0" anchor="ctr"/>
          <a:lstStyle/>
          <a:p>
            <a:pPr algn="r" indent="0" marL="0">
              <a:buNone/>
            </a:pPr>
            <a:r>
              <a:rPr lang="en-US" sz="900" b="1" spc="100" kern="0" dirty="0">
                <a:solidFill>
                  <a:srgbClr val="B7B9BE"/>
                </a:solidFill>
                <a:latin typeface="Sukhumvit Set" pitchFamily="34" charset="0"/>
                <a:ea typeface="Sukhumvit Set" pitchFamily="34" charset="-122"/>
                <a:cs typeface="Sukhumvit Set" pitchFamily="34" charset="-120"/>
              </a:rPr>
              <a:t>COLORADO BACK-OFFICE  ·  PHASE 1</a:t>
            </a:r>
            <a:endParaRPr lang="en-US" sz="900" dirty="0"/>
          </a:p>
        </p:txBody>
      </p:sp>
      <p:sp>
        <p:nvSpPr>
          <p:cNvPr id="7" name="Text 5"/>
          <p:cNvSpPr/>
          <p:nvPr>
            <p:ph idx="105" type="title" hasCustomPrompt="1"/>
          </p:nvPr>
        </p:nvSpPr>
        <p:spPr>
          <a:xfrm>
            <a:off x="704088" y="329184"/>
            <a:ext cx="10984687" cy="548640"/>
          </a:xfrm>
          <a:prstGeom prst="rect">
            <a:avLst/>
          </a:prstGeom>
          <a:noFill/>
          <a:ln/>
        </p:spPr>
        <p:txBody>
          <a:bodyPr wrap="square" rtlCol="0"/>
          <a:lstStyle>
            <a:lvl1pPr algn="l" indent="0" marL="0">
              <a:buNone/>
              <a:defRPr lang="en-US" sz="2400" b="1" dirty="0">
                <a:solidFill>
                  <a:srgbClr val="292A2E"/>
                </a:solidFill>
                <a:latin typeface="Sukhumvit Set" pitchFamily="34" charset="0"/>
                <a:ea typeface="Sukhumvit Set" pitchFamily="34" charset="-122"/>
                <a:cs typeface="Sukhumvit Set"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8F8F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505258"/>
                </a:solidFill>
                <a:latin typeface="Sukhumvit Set"/>
                <a:ea typeface="Sukhumvit Set"/>
                <a:cs typeface="Sukhumvit Set"/>
              </a:defRPr>
            </a:lvl1pPr>
          </a:lstStyle>
          <a:p>
            <a:pPr algn="ct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868DB"/>
          </a:solidFill>
          <a:ln w="12700">
            <a:solidFill>
              <a:srgbClr val="1868DB"/>
            </a:solidFill>
            <a:prstDash val="solid"/>
          </a:ln>
        </p:spPr>
      </p:sp>
      <p:sp>
        <p:nvSpPr>
          <p:cNvPr id="3" name="Text 1"/>
          <p:cNvSpPr txBox="1"/>
          <p:nvPr/>
        </p:nvSpPr>
        <p:spPr>
          <a:xfrm>
            <a:off x="685800" y="822960"/>
            <a:ext cx="8229600" cy="274320"/>
          </a:xfrm>
          <a:prstGeom prst="rect">
            <a:avLst/>
          </a:prstGeom>
          <a:noFill/>
          <a:ln/>
        </p:spPr>
        <p:txBody>
          <a:bodyPr wrap="square" lIns="0" tIns="0" rIns="0" bIns="0" rtlCol="0" anchor="t"/>
          <a:lstStyle/>
          <a:p>
            <a:pPr indent="0" marL="0">
              <a:buNone/>
            </a:pPr>
            <a:r>
              <a:rPr lang="en-US" sz="1100" b="1" spc="150" kern="0" dirty="0">
                <a:solidFill>
                  <a:srgbClr val="1868DB"/>
                </a:solidFill>
                <a:latin typeface="Sukhumvit Set" pitchFamily="34" charset="0"/>
                <a:ea typeface="Sukhumvit Set" pitchFamily="34" charset="-122"/>
                <a:cs typeface="Sukhumvit Set" pitchFamily="34" charset="-120"/>
              </a:rPr>
              <a:t>01418321 SYSTEM ANALYSIS AND DESIGN</a:t>
            </a:r>
            <a:endParaRPr lang="en-US" sz="1100" dirty="0"/>
          </a:p>
        </p:txBody>
      </p:sp>
      <p:sp>
        <p:nvSpPr>
          <p:cNvPr id="4" name="Text 2"/>
          <p:cNvSpPr txBox="1"/>
          <p:nvPr/>
        </p:nvSpPr>
        <p:spPr>
          <a:xfrm>
            <a:off x="685800" y="1280160"/>
            <a:ext cx="7772400" cy="1828800"/>
          </a:xfrm>
          <a:prstGeom prst="rect">
            <a:avLst/>
          </a:prstGeom>
          <a:noFill/>
          <a:ln/>
        </p:spPr>
        <p:txBody>
          <a:bodyPr wrap="square" lIns="0" tIns="0" rIns="0" bIns="0" rtlCol="0" anchor="t"/>
          <a:lstStyle/>
          <a:p>
            <a:pPr indent="0" marL="0">
              <a:lnSpc>
                <a:spcPct val="95000"/>
              </a:lnSpc>
              <a:buNone/>
            </a:pPr>
            <a:r>
              <a:rPr lang="en-US" sz="4800" b="1" dirty="0">
                <a:solidFill>
                  <a:srgbClr val="292A2E"/>
                </a:solidFill>
                <a:latin typeface="Sukhumvit Set" pitchFamily="34" charset="0"/>
                <a:ea typeface="Sukhumvit Set" pitchFamily="34" charset="-122"/>
                <a:cs typeface="Sukhumvit Set" pitchFamily="34" charset="-120"/>
              </a:rPr>
              <a:t>Colorado</a:t>
            </a:r>
            <a:endParaRPr lang="en-US" sz="4800" dirty="0"/>
          </a:p>
          <a:p>
            <a:pPr indent="0" marL="0">
              <a:lnSpc>
                <a:spcPct val="95000"/>
              </a:lnSpc>
              <a:buNone/>
            </a:pPr>
            <a:r>
              <a:rPr lang="en-US" sz="4800" b="1" dirty="0">
                <a:solidFill>
                  <a:srgbClr val="292A2E"/>
                </a:solidFill>
                <a:latin typeface="Sukhumvit Set" pitchFamily="34" charset="0"/>
                <a:ea typeface="Sukhumvit Set" pitchFamily="34" charset="-122"/>
                <a:cs typeface="Sukhumvit Set" pitchFamily="34" charset="-120"/>
              </a:rPr>
              <a:t>Back-Office System</a:t>
            </a:r>
            <a:pPr indent="0" marL="0">
              <a:lnSpc>
                <a:spcPct val="95000"/>
              </a:lnSpc>
              <a:buNone/>
            </a:pPr>
            <a:r>
              <a:rPr lang="en-US" sz="4800" b="1" dirty="0">
                <a:solidFill>
                  <a:srgbClr val="FF5A36"/>
                </a:solidFill>
                <a:latin typeface="Sukhumvit Set" pitchFamily="34" charset="0"/>
                <a:ea typeface="Sukhumvit Set" pitchFamily="34" charset="-122"/>
                <a:cs typeface="Sukhumvit Set" pitchFamily="34" charset="-120"/>
              </a:rPr>
              <a:t>.</a:t>
            </a:r>
            <a:endParaRPr lang="en-US" sz="4800" dirty="0"/>
          </a:p>
        </p:txBody>
      </p:sp>
      <p:sp>
        <p:nvSpPr>
          <p:cNvPr id="5" name="Text 3"/>
          <p:cNvSpPr txBox="1"/>
          <p:nvPr/>
        </p:nvSpPr>
        <p:spPr>
          <a:xfrm>
            <a:off x="685800" y="3154680"/>
            <a:ext cx="7132320" cy="548640"/>
          </a:xfrm>
          <a:prstGeom prst="rect">
            <a:avLst/>
          </a:prstGeom>
          <a:noFill/>
          <a:ln/>
        </p:spPr>
        <p:txBody>
          <a:bodyPr wrap="square" lIns="0" tIns="0" rIns="0" bIns="0" rtlCol="0" anchor="t"/>
          <a:lstStyle/>
          <a:p>
            <a:pPr indent="0" marL="0">
              <a:buNone/>
            </a:pPr>
            <a:r>
              <a:rPr lang="en-US" sz="1800" b="1" dirty="0">
                <a:solidFill>
                  <a:srgbClr val="292A2E"/>
                </a:solidFill>
                <a:latin typeface="Sukhumvit Set" pitchFamily="34" charset="0"/>
                <a:ea typeface="Sukhumvit Set" pitchFamily="34" charset="-122"/>
                <a:cs typeface="Sukhumvit Set" pitchFamily="34" charset="-120"/>
              </a:rPr>
              <a:t>ระบบจัดการหลังบ้านอัตโนมัติ เฟส 1: Rakuten Ichiba, Rakuten RMS และ RSL</a:t>
            </a:r>
            <a:endParaRPr lang="en-US" sz="1800" dirty="0"/>
          </a:p>
        </p:txBody>
      </p:sp>
      <p:sp>
        <p:nvSpPr>
          <p:cNvPr id="6" name="Text 4"/>
          <p:cNvSpPr txBox="1"/>
          <p:nvPr/>
        </p:nvSpPr>
        <p:spPr>
          <a:xfrm>
            <a:off x="685800" y="3703320"/>
            <a:ext cx="7772400" cy="365760"/>
          </a:xfrm>
          <a:prstGeom prst="rect">
            <a:avLst/>
          </a:prstGeom>
          <a:noFill/>
          <a:ln/>
        </p:spPr>
        <p:txBody>
          <a:bodyPr wrap="square" lIns="0" tIns="0" rIns="0" bIns="0" rtlCol="0" anchor="t"/>
          <a:lstStyle/>
          <a:p>
            <a:pPr indent="0" marL="0">
              <a:buNone/>
            </a:pPr>
            <a:r>
              <a:rPr lang="en-US" sz="1500" dirty="0">
                <a:solidFill>
                  <a:srgbClr val="505258"/>
                </a:solidFill>
                <a:latin typeface="Sukhumvit Set" pitchFamily="34" charset="0"/>
                <a:ea typeface="Sukhumvit Set" pitchFamily="34" charset="-122"/>
                <a:cs typeface="Sukhumvit Set" pitchFamily="34" charset="-120"/>
              </a:rPr>
              <a:t>Auto label · Auto reorder · Unit cost calculator</a:t>
            </a:r>
            <a:endParaRPr lang="en-US" sz="1500" dirty="0"/>
          </a:p>
        </p:txBody>
      </p:sp>
      <p:sp>
        <p:nvSpPr>
          <p:cNvPr id="7" name="Shape 5"/>
          <p:cNvSpPr/>
          <p:nvPr/>
        </p:nvSpPr>
        <p:spPr>
          <a:xfrm>
            <a:off x="7955280" y="914400"/>
            <a:ext cx="3840480" cy="2743200"/>
          </a:xfrm>
          <a:prstGeom prst="roundRect">
            <a:avLst>
              <a:gd name="adj" fmla="val 2000"/>
            </a:avLst>
          </a:prstGeom>
          <a:solidFill>
            <a:srgbClr val="FFFFFF"/>
          </a:solidFill>
          <a:ln w="9525">
            <a:solidFill>
              <a:srgbClr val="DDDEDE"/>
            </a:solidFill>
            <a:prstDash val="solid"/>
          </a:ln>
        </p:spPr>
      </p:sp>
      <p:pic>
        <p:nvPicPr>
          <p:cNvPr id="8" name="Image 0" descr="/Users/xbpkdi/xbpkdi_kucs/321-sa-proj/05-chapter2-platform-testing/img/ui/0-DashboardScreen.png">    </p:cNvPr>
          <p:cNvPicPr>
            <a:picLocks noChangeAspect="1"/>
          </p:cNvPicPr>
          <p:nvPr/>
        </p:nvPicPr>
        <p:blipFill>
          <a:blip r:embed="rId1"/>
          <a:stretch>
            <a:fillRect/>
          </a:stretch>
        </p:blipFill>
        <p:spPr>
          <a:xfrm>
            <a:off x="8952574" y="1051560"/>
            <a:ext cx="1845892" cy="2468880"/>
          </a:xfrm>
          <a:prstGeom prst="rect">
            <a:avLst/>
          </a:prstGeom>
        </p:spPr>
      </p:pic>
      <p:sp>
        <p:nvSpPr>
          <p:cNvPr id="9" name="Shape 6"/>
          <p:cNvSpPr/>
          <p:nvPr/>
        </p:nvSpPr>
        <p:spPr>
          <a:xfrm>
            <a:off x="0" y="5394960"/>
            <a:ext cx="12191695" cy="1463040"/>
          </a:xfrm>
          <a:prstGeom prst="rect">
            <a:avLst/>
          </a:prstGeom>
          <a:solidFill>
            <a:srgbClr val="292A2E"/>
          </a:solidFill>
          <a:ln w="12700">
            <a:solidFill>
              <a:srgbClr val="292A2E"/>
            </a:solidFill>
            <a:prstDash val="solid"/>
          </a:ln>
        </p:spPr>
      </p:sp>
      <p:sp>
        <p:nvSpPr>
          <p:cNvPr id="10" name="Text 7"/>
          <p:cNvSpPr txBox="1"/>
          <p:nvPr/>
        </p:nvSpPr>
        <p:spPr>
          <a:xfrm>
            <a:off x="685800" y="5623560"/>
            <a:ext cx="3017520" cy="320040"/>
          </a:xfrm>
          <a:prstGeom prst="rect">
            <a:avLst/>
          </a:prstGeom>
          <a:noFill/>
          <a:ln/>
        </p:spPr>
        <p:txBody>
          <a:bodyPr wrap="square" lIns="0" tIns="0" rIns="0" bIns="0" rtlCol="0" anchor="t"/>
          <a:lstStyle/>
          <a:p>
            <a:pPr indent="0" marL="0">
              <a:buNone/>
            </a:pPr>
            <a:r>
              <a:rPr lang="en-US" sz="1500" b="1" dirty="0">
                <a:solidFill>
                  <a:srgbClr val="FFFFFF"/>
                </a:solidFill>
                <a:latin typeface="Sukhumvit Set" pitchFamily="34" charset="0"/>
                <a:ea typeface="Sukhumvit Set" pitchFamily="34" charset="-122"/>
                <a:cs typeface="Sukhumvit Set" pitchFamily="34" charset="-120"/>
              </a:rPr>
              <a:t>นายธนภัทร พูลโภคา</a:t>
            </a:r>
            <a:endParaRPr lang="en-US" sz="1500" dirty="0"/>
          </a:p>
        </p:txBody>
      </p:sp>
      <p:sp>
        <p:nvSpPr>
          <p:cNvPr id="11" name="Text 8"/>
          <p:cNvSpPr txBox="1"/>
          <p:nvPr/>
        </p:nvSpPr>
        <p:spPr>
          <a:xfrm>
            <a:off x="685800" y="5961888"/>
            <a:ext cx="3017520" cy="274320"/>
          </a:xfrm>
          <a:prstGeom prst="rect">
            <a:avLst/>
          </a:prstGeom>
          <a:noFill/>
          <a:ln/>
        </p:spPr>
        <p:txBody>
          <a:bodyPr wrap="square" lIns="0" tIns="0" rIns="0" bIns="0" rtlCol="0" anchor="t"/>
          <a:lstStyle/>
          <a:p>
            <a:pPr indent="0" marL="0">
              <a:buNone/>
            </a:pPr>
            <a:r>
              <a:rPr lang="en-US" sz="1200" dirty="0">
                <a:solidFill>
                  <a:srgbClr val="B7B9BE"/>
                </a:solidFill>
                <a:latin typeface="Sukhumvit Set" pitchFamily="34" charset="0"/>
                <a:ea typeface="Sukhumvit Set" pitchFamily="34" charset="-122"/>
                <a:cs typeface="Sukhumvit Set" pitchFamily="34" charset="-120"/>
              </a:rPr>
              <a:t>6710450911  หมู่ 200</a:t>
            </a:r>
            <a:endParaRPr lang="en-US" sz="1200" dirty="0"/>
          </a:p>
        </p:txBody>
      </p:sp>
      <p:sp>
        <p:nvSpPr>
          <p:cNvPr id="12" name="Text 9"/>
          <p:cNvSpPr txBox="1"/>
          <p:nvPr/>
        </p:nvSpPr>
        <p:spPr>
          <a:xfrm>
            <a:off x="3794760" y="5623560"/>
            <a:ext cx="3017520" cy="320040"/>
          </a:xfrm>
          <a:prstGeom prst="rect">
            <a:avLst/>
          </a:prstGeom>
          <a:noFill/>
          <a:ln/>
        </p:spPr>
        <p:txBody>
          <a:bodyPr wrap="square" lIns="0" tIns="0" rIns="0" bIns="0" rtlCol="0" anchor="t"/>
          <a:lstStyle/>
          <a:p>
            <a:pPr indent="0" marL="0">
              <a:buNone/>
            </a:pPr>
            <a:r>
              <a:rPr lang="en-US" sz="1500" b="1" dirty="0">
                <a:solidFill>
                  <a:srgbClr val="FFFFFF"/>
                </a:solidFill>
                <a:latin typeface="Sukhumvit Set" pitchFamily="34" charset="0"/>
                <a:ea typeface="Sukhumvit Set" pitchFamily="34" charset="-122"/>
                <a:cs typeface="Sukhumvit Set" pitchFamily="34" charset="-120"/>
              </a:rPr>
              <a:t>นายอชิระ ภู่รุ่งเรือง</a:t>
            </a:r>
            <a:endParaRPr lang="en-US" sz="1500" dirty="0"/>
          </a:p>
        </p:txBody>
      </p:sp>
      <p:sp>
        <p:nvSpPr>
          <p:cNvPr id="13" name="Text 10"/>
          <p:cNvSpPr txBox="1"/>
          <p:nvPr/>
        </p:nvSpPr>
        <p:spPr>
          <a:xfrm>
            <a:off x="3794760" y="5961888"/>
            <a:ext cx="3017520" cy="274320"/>
          </a:xfrm>
          <a:prstGeom prst="rect">
            <a:avLst/>
          </a:prstGeom>
          <a:noFill/>
          <a:ln/>
        </p:spPr>
        <p:txBody>
          <a:bodyPr wrap="square" lIns="0" tIns="0" rIns="0" bIns="0" rtlCol="0" anchor="t"/>
          <a:lstStyle/>
          <a:p>
            <a:pPr indent="0" marL="0">
              <a:buNone/>
            </a:pPr>
            <a:r>
              <a:rPr lang="en-US" sz="1200" dirty="0">
                <a:solidFill>
                  <a:srgbClr val="B7B9BE"/>
                </a:solidFill>
                <a:latin typeface="Sukhumvit Set" pitchFamily="34" charset="0"/>
                <a:ea typeface="Sukhumvit Set" pitchFamily="34" charset="-122"/>
                <a:cs typeface="Sukhumvit Set" pitchFamily="34" charset="-120"/>
              </a:rPr>
              <a:t>6710451488  หมู่ 200</a:t>
            </a:r>
            <a:endParaRPr lang="en-US" sz="1200" dirty="0"/>
          </a:p>
        </p:txBody>
      </p:sp>
      <p:sp>
        <p:nvSpPr>
          <p:cNvPr id="14" name="Text 11"/>
          <p:cNvSpPr txBox="1"/>
          <p:nvPr/>
        </p:nvSpPr>
        <p:spPr>
          <a:xfrm>
            <a:off x="6903720" y="5623560"/>
            <a:ext cx="3017520" cy="320040"/>
          </a:xfrm>
          <a:prstGeom prst="rect">
            <a:avLst/>
          </a:prstGeom>
          <a:noFill/>
          <a:ln/>
        </p:spPr>
        <p:txBody>
          <a:bodyPr wrap="square" lIns="0" tIns="0" rIns="0" bIns="0" rtlCol="0" anchor="t"/>
          <a:lstStyle/>
          <a:p>
            <a:pPr indent="0" marL="0">
              <a:buNone/>
            </a:pPr>
            <a:r>
              <a:rPr lang="en-US" sz="1500" b="1" dirty="0">
                <a:solidFill>
                  <a:srgbClr val="FFFFFF"/>
                </a:solidFill>
                <a:latin typeface="Sukhumvit Set" pitchFamily="34" charset="0"/>
                <a:ea typeface="Sukhumvit Set" pitchFamily="34" charset="-122"/>
                <a:cs typeface="Sukhumvit Set" pitchFamily="34" charset="-120"/>
              </a:rPr>
              <a:t>นางสาวปิยากร ผลพานิช</a:t>
            </a:r>
            <a:endParaRPr lang="en-US" sz="1500" dirty="0"/>
          </a:p>
        </p:txBody>
      </p:sp>
      <p:sp>
        <p:nvSpPr>
          <p:cNvPr id="15" name="Text 12"/>
          <p:cNvSpPr txBox="1"/>
          <p:nvPr/>
        </p:nvSpPr>
        <p:spPr>
          <a:xfrm>
            <a:off x="6903720" y="5961888"/>
            <a:ext cx="3017520" cy="274320"/>
          </a:xfrm>
          <a:prstGeom prst="rect">
            <a:avLst/>
          </a:prstGeom>
          <a:noFill/>
          <a:ln/>
        </p:spPr>
        <p:txBody>
          <a:bodyPr wrap="square" lIns="0" tIns="0" rIns="0" bIns="0" rtlCol="0" anchor="t"/>
          <a:lstStyle/>
          <a:p>
            <a:pPr indent="0" marL="0">
              <a:buNone/>
            </a:pPr>
            <a:r>
              <a:rPr lang="en-US" sz="1200" dirty="0">
                <a:solidFill>
                  <a:srgbClr val="B7B9BE"/>
                </a:solidFill>
                <a:latin typeface="Sukhumvit Set" pitchFamily="34" charset="0"/>
                <a:ea typeface="Sukhumvit Set" pitchFamily="34" charset="-122"/>
                <a:cs typeface="Sukhumvit Set" pitchFamily="34" charset="-120"/>
              </a:rPr>
              <a:t>6710451054  หมู่ 200</a:t>
            </a:r>
            <a:endParaRPr lang="en-US" sz="1200" dirty="0"/>
          </a:p>
        </p:txBody>
      </p:sp>
      <p:sp>
        <p:nvSpPr>
          <p:cNvPr id="16" name="Text 13"/>
          <p:cNvSpPr txBox="1"/>
          <p:nvPr/>
        </p:nvSpPr>
        <p:spPr>
          <a:xfrm>
            <a:off x="8778240" y="5623560"/>
            <a:ext cx="3017520" cy="320040"/>
          </a:xfrm>
          <a:prstGeom prst="rect">
            <a:avLst/>
          </a:prstGeom>
          <a:noFill/>
          <a:ln/>
        </p:spPr>
        <p:txBody>
          <a:bodyPr wrap="square" lIns="0" tIns="0" rIns="0" bIns="0" rtlCol="0" anchor="t"/>
          <a:lstStyle/>
          <a:p>
            <a:pPr algn="r" indent="0" marL="0">
              <a:buNone/>
            </a:pPr>
            <a:r>
              <a:rPr lang="en-US" sz="1200" dirty="0">
                <a:solidFill>
                  <a:srgbClr val="B7B9BE"/>
                </a:solidFill>
                <a:latin typeface="Sukhumvit Set" pitchFamily="34" charset="0"/>
                <a:ea typeface="Sukhumvit Set" pitchFamily="34" charset="-122"/>
                <a:cs typeface="Sukhumvit Set" pitchFamily="34" charset="-120"/>
              </a:rPr>
              <a:t>เสนอ อาจารย์ สมโชค เรืองอิทธินันท์</a:t>
            </a:r>
            <a:endParaRPr lang="en-US" sz="1200" dirty="0"/>
          </a:p>
        </p:txBody>
      </p:sp>
      <p:sp>
        <p:nvSpPr>
          <p:cNvPr id="25" name="Slide Number Placeholder 0"/>
          <p:cNvSpPr>
            <a:spLocks noGrp="1"/>
          </p:cNvSpPr>
          <p:nvPr>
            <p:ph type="sldNum" sz="quarter" idx="4294967295"/>
          </p:nvPr>
        </p:nvSpPr>
        <p:spPr>
          <a:xfrm>
            <a:off x="11064240" y="6446520"/>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505258"/>
                </a:solidFill>
                <a:latin typeface="Sukhumvit Set"/>
                <a:ea typeface="Sukhumvit Set"/>
                <a:cs typeface="Sukhumvit Set"/>
              </a:defRPr>
            </a:lvl1pPr>
          </a:lstStyle>
          <a:p>
            <a:pPr algn="ct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Business introduction</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แนะนำธุรกิจ (พูดเป็นภาษาอังกฤษ)</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INTRODUCTION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417320"/>
            <a:ext cx="5577840" cy="4846320"/>
          </a:xfrm>
          <a:prstGeom prst="roundRect">
            <a:avLst>
              <a:gd name="adj" fmla="val 1132"/>
            </a:avLst>
          </a:prstGeom>
          <a:solidFill>
            <a:srgbClr val="FFFFFF"/>
          </a:solidFill>
          <a:ln w="9525">
            <a:solidFill>
              <a:srgbClr val="DDDEDE"/>
            </a:solidFill>
            <a:prstDash val="solid"/>
          </a:ln>
        </p:spPr>
      </p:sp>
      <p:sp>
        <p:nvSpPr>
          <p:cNvPr id="6" name="Text 4"/>
          <p:cNvSpPr txBox="1"/>
          <p:nvPr/>
        </p:nvSpPr>
        <p:spPr>
          <a:xfrm>
            <a:off x="685800" y="1545336"/>
            <a:ext cx="5212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WHO IS COLORADO</a:t>
            </a:r>
            <a:endParaRPr lang="en-US" sz="950" dirty="0"/>
          </a:p>
        </p:txBody>
      </p:sp>
      <p:sp>
        <p:nvSpPr>
          <p:cNvPr id="7" name="Text 5"/>
          <p:cNvSpPr txBox="1"/>
          <p:nvPr/>
        </p:nvSpPr>
        <p:spPr>
          <a:xfrm>
            <a:off x="731520" y="1874520"/>
            <a:ext cx="5120640" cy="420624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500" dirty="0">
                <a:solidFill>
                  <a:srgbClr val="292A2E"/>
                </a:solidFill>
                <a:latin typeface="Sukhumvit Set" pitchFamily="34" charset="0"/>
                <a:ea typeface="Sukhumvit Set" pitchFamily="34" charset="-122"/>
                <a:cs typeface="Sukhumvit Set" pitchFamily="34" charset="-120"/>
              </a:rPr>
              <a:t>Sells imported and OEM products on Rakuten Ichiba in Japan</a:t>
            </a:r>
            <a:endParaRPr lang="en-US" sz="1500" dirty="0"/>
          </a:p>
          <a:p>
            <a:pPr marL="203200" indent="-203200">
              <a:lnSpc>
                <a:spcPct val="105000"/>
              </a:lnSpc>
              <a:spcAft>
                <a:spcPts val="600"/>
              </a:spcAft>
              <a:buSzPct val="100000"/>
              <a:buChar char="•"/>
            </a:pPr>
            <a:r>
              <a:rPr lang="en-US" sz="1500" dirty="0">
                <a:solidFill>
                  <a:srgbClr val="292A2E"/>
                </a:solidFill>
                <a:latin typeface="Sukhumvit Set" pitchFamily="34" charset="0"/>
                <a:ea typeface="Sukhumvit Set" pitchFamily="34" charset="-122"/>
                <a:cs typeface="Sukhumvit Set" pitchFamily="34" charset="-120"/>
              </a:rPr>
              <a:t>Products: fishing gear and lures, outdoor goods, household items, Thai herbal inhalers</a:t>
            </a:r>
            <a:endParaRPr lang="en-US" sz="1500" dirty="0"/>
          </a:p>
          <a:p>
            <a:pPr marL="203200" indent="-203200">
              <a:lnSpc>
                <a:spcPct val="105000"/>
              </a:lnSpc>
              <a:spcAft>
                <a:spcPts val="600"/>
              </a:spcAft>
              <a:buSzPct val="100000"/>
              <a:buChar char="•"/>
            </a:pPr>
            <a:r>
              <a:rPr lang="en-US" sz="1500" dirty="0">
                <a:solidFill>
                  <a:srgbClr val="292A2E"/>
                </a:solidFill>
                <a:latin typeface="Sukhumvit Set" pitchFamily="34" charset="0"/>
                <a:ea typeface="Sukhumvit Set" pitchFamily="34" charset="-122"/>
                <a:cs typeface="Sukhumvit Set" pitchFamily="34" charset="-120"/>
              </a:rPr>
              <a:t>Started in 2009 as a side business, now run by one owner</a:t>
            </a:r>
            <a:endParaRPr lang="en-US" sz="1500" dirty="0"/>
          </a:p>
          <a:p>
            <a:pPr marL="203200" indent="-203200">
              <a:lnSpc>
                <a:spcPct val="105000"/>
              </a:lnSpc>
              <a:spcAft>
                <a:spcPts val="600"/>
              </a:spcAft>
              <a:buSzPct val="100000"/>
              <a:buChar char="•"/>
            </a:pPr>
            <a:r>
              <a:rPr lang="en-US" sz="1500" dirty="0">
                <a:solidFill>
                  <a:srgbClr val="292A2E"/>
                </a:solidFill>
                <a:latin typeface="Sukhumvit Set" pitchFamily="34" charset="0"/>
                <a:ea typeface="Sukhumvit Set" pitchFamily="34" charset="-122"/>
                <a:cs typeface="Sukhumvit Set" pitchFamily="34" charset="-120"/>
              </a:rPr>
              <a:t>Rakuten Super Logistics (RSL) stores and ships the products</a:t>
            </a:r>
            <a:endParaRPr lang="en-US" sz="1500" dirty="0"/>
          </a:p>
          <a:p>
            <a:pPr marL="203200" indent="-203200">
              <a:lnSpc>
                <a:spcPct val="105000"/>
              </a:lnSpc>
              <a:spcAft>
                <a:spcPts val="600"/>
              </a:spcAft>
              <a:buSzPct val="100000"/>
              <a:buChar char="•"/>
            </a:pPr>
            <a:r>
              <a:rPr lang="en-US" sz="1500" dirty="0">
                <a:solidFill>
                  <a:srgbClr val="292A2E"/>
                </a:solidFill>
                <a:latin typeface="Sukhumvit Set" pitchFamily="34" charset="0"/>
                <a:ea typeface="Sukhumvit Set" pitchFamily="34" charset="-122"/>
                <a:cs typeface="Sukhumvit Set" pitchFamily="34" charset="-120"/>
              </a:rPr>
              <a:t>Next phases: Yahoo! Auctions and Amazon</a:t>
            </a:r>
            <a:endParaRPr lang="en-US" sz="1500" dirty="0"/>
          </a:p>
        </p:txBody>
      </p:sp>
      <p:sp>
        <p:nvSpPr>
          <p:cNvPr id="8" name="Shape 6"/>
          <p:cNvSpPr/>
          <p:nvPr/>
        </p:nvSpPr>
        <p:spPr>
          <a:xfrm>
            <a:off x="6263640" y="1417320"/>
            <a:ext cx="5422392" cy="4846320"/>
          </a:xfrm>
          <a:prstGeom prst="roundRect">
            <a:avLst>
              <a:gd name="adj" fmla="val 1132"/>
            </a:avLst>
          </a:prstGeom>
          <a:solidFill>
            <a:srgbClr val="FFFFFF"/>
          </a:solidFill>
          <a:ln w="9525">
            <a:solidFill>
              <a:srgbClr val="DDDEDE"/>
            </a:solidFill>
            <a:prstDash val="solid"/>
          </a:ln>
        </p:spPr>
      </p:sp>
      <p:sp>
        <p:nvSpPr>
          <p:cNvPr id="9" name="Text 7"/>
          <p:cNvSpPr txBox="1"/>
          <p:nvPr/>
        </p:nvSpPr>
        <p:spPr>
          <a:xfrm>
            <a:off x="6446520" y="1545336"/>
            <a:ext cx="505663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THE PROBLEM IN ONE LINE</a:t>
            </a:r>
            <a:endParaRPr lang="en-US" sz="950" dirty="0"/>
          </a:p>
        </p:txBody>
      </p:sp>
      <p:sp>
        <p:nvSpPr>
          <p:cNvPr id="10" name="Text 8"/>
          <p:cNvSpPr txBox="1"/>
          <p:nvPr/>
        </p:nvSpPr>
        <p:spPr>
          <a:xfrm>
            <a:off x="6492240" y="1874520"/>
            <a:ext cx="4937760" cy="731520"/>
          </a:xfrm>
          <a:prstGeom prst="rect">
            <a:avLst/>
          </a:prstGeom>
          <a:noFill/>
          <a:ln/>
        </p:spPr>
        <p:txBody>
          <a:bodyPr wrap="square" lIns="0" tIns="0" rIns="0" bIns="0" rtlCol="0" anchor="t"/>
          <a:lstStyle/>
          <a:p>
            <a:pPr indent="0" marL="0">
              <a:buNone/>
            </a:pPr>
            <a:r>
              <a:rPr lang="en-US" sz="2000" b="1" dirty="0">
                <a:solidFill>
                  <a:srgbClr val="292A2E"/>
                </a:solidFill>
                <a:latin typeface="Sukhumvit Set" pitchFamily="34" charset="0"/>
                <a:ea typeface="Sukhumvit Set" pitchFamily="34" charset="-122"/>
                <a:cs typeface="Sukhumvit Set" pitchFamily="34" charset="-120"/>
              </a:rPr>
              <a:t>Every order is handled by hand by one person.</a:t>
            </a:r>
            <a:endParaRPr lang="en-US" sz="2000" dirty="0"/>
          </a:p>
        </p:txBody>
      </p:sp>
      <p:sp>
        <p:nvSpPr>
          <p:cNvPr id="11" name="Text 9"/>
          <p:cNvSpPr txBox="1"/>
          <p:nvPr/>
        </p:nvSpPr>
        <p:spPr>
          <a:xfrm>
            <a:off x="6492240" y="2697480"/>
            <a:ext cx="4937760" cy="237744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Check new orders, check stock in two warehouses, match orders with RSL</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Format and print shipping labels, send tracking numbers</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Decide reorders without a clear rule</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Calculate real unit cost from 8 cost items</a:t>
            </a:r>
            <a:endParaRPr lang="en-US" sz="1400" dirty="0"/>
          </a:p>
        </p:txBody>
      </p:sp>
      <p:sp>
        <p:nvSpPr>
          <p:cNvPr id="12" name="Text 10"/>
          <p:cNvSpPr txBox="1"/>
          <p:nvPr/>
        </p:nvSpPr>
        <p:spPr>
          <a:xfrm>
            <a:off x="6492240" y="5257800"/>
            <a:ext cx="4937760" cy="731520"/>
          </a:xfrm>
          <a:prstGeom prst="rect">
            <a:avLst/>
          </a:prstGeom>
          <a:noFill/>
          <a:ln/>
        </p:spPr>
        <p:txBody>
          <a:bodyPr wrap="square" lIns="0" tIns="0" rIns="0" bIns="0" rtlCol="0" anchor="t"/>
          <a:lstStyle/>
          <a:p>
            <a:pPr indent="0" marL="0">
              <a:buNone/>
            </a:pPr>
            <a:r>
              <a:rPr lang="en-US" sz="1400" b="1" dirty="0">
                <a:solidFill>
                  <a:srgbClr val="1868DB"/>
                </a:solidFill>
                <a:latin typeface="Sukhumvit Set" pitchFamily="34" charset="0"/>
                <a:ea typeface="Sukhumvit Set" pitchFamily="34" charset="-122"/>
                <a:cs typeface="Sukhumvit Set" pitchFamily="34" charset="-120"/>
              </a:rPr>
              <a:t>Goal: automate the repetitive work, keep the owner in control of money decisions.</a:t>
            </a:r>
            <a:endParaRPr lang="en-US" sz="14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Agenda</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หัวข้อที่จะนำเสนอ</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AGENDA</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645920"/>
            <a:ext cx="2697480" cy="3474720"/>
          </a:xfrm>
          <a:prstGeom prst="roundRect">
            <a:avLst>
              <a:gd name="adj" fmla="val 2034"/>
            </a:avLst>
          </a:prstGeom>
          <a:solidFill>
            <a:srgbClr val="FFFFFF"/>
          </a:solidFill>
          <a:ln w="9525">
            <a:solidFill>
              <a:srgbClr val="DDDEDE"/>
            </a:solidFill>
            <a:prstDash val="solid"/>
          </a:ln>
        </p:spPr>
      </p:sp>
      <p:sp>
        <p:nvSpPr>
          <p:cNvPr id="6" name="Text 4"/>
          <p:cNvSpPr txBox="1"/>
          <p:nvPr/>
        </p:nvSpPr>
        <p:spPr>
          <a:xfrm>
            <a:off x="731520" y="1828800"/>
            <a:ext cx="2286000" cy="731520"/>
          </a:xfrm>
          <a:prstGeom prst="rect">
            <a:avLst/>
          </a:prstGeom>
          <a:noFill/>
          <a:ln/>
        </p:spPr>
        <p:txBody>
          <a:bodyPr wrap="square" lIns="0" tIns="0" rIns="0" bIns="0" rtlCol="0" anchor="t"/>
          <a:lstStyle/>
          <a:p>
            <a:pPr indent="0" marL="0">
              <a:buNone/>
            </a:pPr>
            <a:r>
              <a:rPr lang="en-US" sz="3600" b="1" dirty="0">
                <a:solidFill>
                  <a:srgbClr val="1868DB"/>
                </a:solidFill>
                <a:latin typeface="Sukhumvit Set" pitchFamily="34" charset="0"/>
                <a:ea typeface="Sukhumvit Set" pitchFamily="34" charset="-122"/>
                <a:cs typeface="Sukhumvit Set" pitchFamily="34" charset="-120"/>
              </a:rPr>
              <a:t>01</a:t>
            </a:r>
            <a:endParaRPr lang="en-US" sz="3600" dirty="0"/>
          </a:p>
        </p:txBody>
      </p:sp>
      <p:sp>
        <p:nvSpPr>
          <p:cNvPr id="7" name="Text 5"/>
          <p:cNvSpPr txBox="1"/>
          <p:nvPr/>
        </p:nvSpPr>
        <p:spPr>
          <a:xfrm>
            <a:off x="731520" y="2651760"/>
            <a:ext cx="2286000" cy="822960"/>
          </a:xfrm>
          <a:prstGeom prst="rect">
            <a:avLst/>
          </a:prstGeom>
          <a:noFill/>
          <a:ln/>
        </p:spPr>
        <p:txBody>
          <a:bodyPr wrap="square" lIns="0" tIns="0" rIns="0" bIns="0" rtlCol="0" anchor="t"/>
          <a:lstStyle/>
          <a:p>
            <a:pPr indent="0" marL="0">
              <a:buNone/>
            </a:pPr>
            <a:r>
              <a:rPr lang="en-US" sz="1700" b="1" dirty="0">
                <a:solidFill>
                  <a:srgbClr val="292A2E"/>
                </a:solidFill>
                <a:latin typeface="Sukhumvit Set" pitchFamily="34" charset="0"/>
                <a:ea typeface="Sukhumvit Set" pitchFamily="34" charset="-122"/>
                <a:cs typeface="Sukhumvit Set" pitchFamily="34" charset="-120"/>
              </a:rPr>
              <a:t>ปัญหาและวัตถุประสงค์</a:t>
            </a:r>
            <a:endParaRPr lang="en-US" sz="1700" dirty="0"/>
          </a:p>
        </p:txBody>
      </p:sp>
      <p:sp>
        <p:nvSpPr>
          <p:cNvPr id="8" name="Text 6"/>
          <p:cNvSpPr txBox="1"/>
          <p:nvPr/>
        </p:nvSpPr>
        <p:spPr>
          <a:xfrm>
            <a:off x="731520" y="3520440"/>
            <a:ext cx="2286000" cy="1371600"/>
          </a:xfrm>
          <a:prstGeom prst="rect">
            <a:avLst/>
          </a:prstGeom>
          <a:noFill/>
          <a:ln/>
        </p:spPr>
        <p:txBody>
          <a:bodyPr wrap="square" lIns="0" tIns="0" rIns="0" bIns="0" rtlCol="0" anchor="t"/>
          <a:lstStyle/>
          <a:p>
            <a:pPr indent="0" marL="0">
              <a:buNone/>
            </a:pPr>
            <a:r>
              <a:rPr lang="en-US" sz="1300" dirty="0">
                <a:solidFill>
                  <a:srgbClr val="505258"/>
                </a:solidFill>
                <a:latin typeface="Sukhumvit Set" pitchFamily="34" charset="0"/>
                <a:ea typeface="Sukhumvit Set" pitchFamily="34" charset="-122"/>
                <a:cs typeface="Sukhumvit Set" pitchFamily="34" charset="-120"/>
              </a:rPr>
              <a:t>ปัญหา 4 ข้อ เวลาที่เสียต่อวัน และระบบอัตโนมัติ 3 เรื่อง</a:t>
            </a:r>
            <a:endParaRPr lang="en-US" sz="1300" dirty="0"/>
          </a:p>
        </p:txBody>
      </p:sp>
      <p:sp>
        <p:nvSpPr>
          <p:cNvPr id="9" name="Shape 7"/>
          <p:cNvSpPr/>
          <p:nvPr/>
        </p:nvSpPr>
        <p:spPr>
          <a:xfrm>
            <a:off x="3337560" y="1645920"/>
            <a:ext cx="2697480" cy="3474720"/>
          </a:xfrm>
          <a:prstGeom prst="roundRect">
            <a:avLst>
              <a:gd name="adj" fmla="val 2034"/>
            </a:avLst>
          </a:prstGeom>
          <a:solidFill>
            <a:srgbClr val="FFFFFF"/>
          </a:solidFill>
          <a:ln w="9525">
            <a:solidFill>
              <a:srgbClr val="DDDEDE"/>
            </a:solidFill>
            <a:prstDash val="solid"/>
          </a:ln>
        </p:spPr>
      </p:sp>
      <p:sp>
        <p:nvSpPr>
          <p:cNvPr id="10" name="Text 8"/>
          <p:cNvSpPr txBox="1"/>
          <p:nvPr/>
        </p:nvSpPr>
        <p:spPr>
          <a:xfrm>
            <a:off x="3566160" y="1828800"/>
            <a:ext cx="2286000" cy="731520"/>
          </a:xfrm>
          <a:prstGeom prst="rect">
            <a:avLst/>
          </a:prstGeom>
          <a:noFill/>
          <a:ln/>
        </p:spPr>
        <p:txBody>
          <a:bodyPr wrap="square" lIns="0" tIns="0" rIns="0" bIns="0" rtlCol="0" anchor="t"/>
          <a:lstStyle/>
          <a:p>
            <a:pPr indent="0" marL="0">
              <a:buNone/>
            </a:pPr>
            <a:r>
              <a:rPr lang="en-US" sz="3600" b="1" dirty="0">
                <a:solidFill>
                  <a:srgbClr val="FF5A36"/>
                </a:solidFill>
                <a:latin typeface="Sukhumvit Set" pitchFamily="34" charset="0"/>
                <a:ea typeface="Sukhumvit Set" pitchFamily="34" charset="-122"/>
                <a:cs typeface="Sukhumvit Set" pitchFamily="34" charset="-120"/>
              </a:rPr>
              <a:t>02</a:t>
            </a:r>
            <a:endParaRPr lang="en-US" sz="3600" dirty="0"/>
          </a:p>
        </p:txBody>
      </p:sp>
      <p:sp>
        <p:nvSpPr>
          <p:cNvPr id="11" name="Text 9"/>
          <p:cNvSpPr txBox="1"/>
          <p:nvPr/>
        </p:nvSpPr>
        <p:spPr>
          <a:xfrm>
            <a:off x="3566160" y="2651760"/>
            <a:ext cx="2286000" cy="822960"/>
          </a:xfrm>
          <a:prstGeom prst="rect">
            <a:avLst/>
          </a:prstGeom>
          <a:noFill/>
          <a:ln/>
        </p:spPr>
        <p:txBody>
          <a:bodyPr wrap="square" lIns="0" tIns="0" rIns="0" bIns="0" rtlCol="0" anchor="t"/>
          <a:lstStyle/>
          <a:p>
            <a:pPr indent="0" marL="0">
              <a:buNone/>
            </a:pPr>
            <a:r>
              <a:rPr lang="en-US" sz="1700" b="1" dirty="0">
                <a:solidFill>
                  <a:srgbClr val="292A2E"/>
                </a:solidFill>
                <a:latin typeface="Sukhumvit Set" pitchFamily="34" charset="0"/>
                <a:ea typeface="Sukhumvit Set" pitchFamily="34" charset="-122"/>
                <a:cs typeface="Sukhumvit Set" pitchFamily="34" charset="-120"/>
              </a:rPr>
              <a:t>Business Process และ Use Case</a:t>
            </a:r>
            <a:endParaRPr lang="en-US" sz="1700" dirty="0"/>
          </a:p>
        </p:txBody>
      </p:sp>
      <p:sp>
        <p:nvSpPr>
          <p:cNvPr id="12" name="Text 10"/>
          <p:cNvSpPr txBox="1"/>
          <p:nvPr/>
        </p:nvSpPr>
        <p:spPr>
          <a:xfrm>
            <a:off x="3566160" y="3520440"/>
            <a:ext cx="2286000" cy="1371600"/>
          </a:xfrm>
          <a:prstGeom prst="rect">
            <a:avLst/>
          </a:prstGeom>
          <a:noFill/>
          <a:ln/>
        </p:spPr>
        <p:txBody>
          <a:bodyPr wrap="square" lIns="0" tIns="0" rIns="0" bIns="0" rtlCol="0" anchor="t"/>
          <a:lstStyle/>
          <a:p>
            <a:pPr indent="0" marL="0">
              <a:buNone/>
            </a:pPr>
            <a:r>
              <a:rPr lang="en-US" sz="1300" dirty="0">
                <a:solidFill>
                  <a:srgbClr val="505258"/>
                </a:solidFill>
                <a:latin typeface="Sukhumvit Set" pitchFamily="34" charset="0"/>
                <a:ea typeface="Sukhumvit Set" pitchFamily="34" charset="-122"/>
                <a:cs typeface="Sukhumvit Set" pitchFamily="34" charset="-120"/>
              </a:rPr>
              <a:t>As-Is, To-Be, Use Case Diagram และ CRUD</a:t>
            </a:r>
            <a:endParaRPr lang="en-US" sz="1300" dirty="0"/>
          </a:p>
        </p:txBody>
      </p:sp>
      <p:sp>
        <p:nvSpPr>
          <p:cNvPr id="13" name="Shape 11"/>
          <p:cNvSpPr/>
          <p:nvPr/>
        </p:nvSpPr>
        <p:spPr>
          <a:xfrm>
            <a:off x="6172200" y="1645920"/>
            <a:ext cx="2697480" cy="3474720"/>
          </a:xfrm>
          <a:prstGeom prst="roundRect">
            <a:avLst>
              <a:gd name="adj" fmla="val 2034"/>
            </a:avLst>
          </a:prstGeom>
          <a:solidFill>
            <a:srgbClr val="FFFFFF"/>
          </a:solidFill>
          <a:ln w="9525">
            <a:solidFill>
              <a:srgbClr val="DDDEDE"/>
            </a:solidFill>
            <a:prstDash val="solid"/>
          </a:ln>
        </p:spPr>
      </p:sp>
      <p:sp>
        <p:nvSpPr>
          <p:cNvPr id="14" name="Text 12"/>
          <p:cNvSpPr txBox="1"/>
          <p:nvPr/>
        </p:nvSpPr>
        <p:spPr>
          <a:xfrm>
            <a:off x="6400800" y="1828800"/>
            <a:ext cx="2286000" cy="731520"/>
          </a:xfrm>
          <a:prstGeom prst="rect">
            <a:avLst/>
          </a:prstGeom>
          <a:noFill/>
          <a:ln/>
        </p:spPr>
        <p:txBody>
          <a:bodyPr wrap="square" lIns="0" tIns="0" rIns="0" bIns="0" rtlCol="0" anchor="t"/>
          <a:lstStyle/>
          <a:p>
            <a:pPr indent="0" marL="0">
              <a:buNone/>
            </a:pPr>
            <a:r>
              <a:rPr lang="en-US" sz="3600" b="1" dirty="0">
                <a:solidFill>
                  <a:srgbClr val="1868DB"/>
                </a:solidFill>
                <a:latin typeface="Sukhumvit Set" pitchFamily="34" charset="0"/>
                <a:ea typeface="Sukhumvit Set" pitchFamily="34" charset="-122"/>
                <a:cs typeface="Sukhumvit Set" pitchFamily="34" charset="-120"/>
              </a:rPr>
              <a:t>03</a:t>
            </a:r>
            <a:endParaRPr lang="en-US" sz="3600" dirty="0"/>
          </a:p>
        </p:txBody>
      </p:sp>
      <p:sp>
        <p:nvSpPr>
          <p:cNvPr id="15" name="Text 13"/>
          <p:cNvSpPr txBox="1"/>
          <p:nvPr/>
        </p:nvSpPr>
        <p:spPr>
          <a:xfrm>
            <a:off x="6400800" y="2651760"/>
            <a:ext cx="2286000" cy="822960"/>
          </a:xfrm>
          <a:prstGeom prst="rect">
            <a:avLst/>
          </a:prstGeom>
          <a:noFill/>
          <a:ln/>
        </p:spPr>
        <p:txBody>
          <a:bodyPr wrap="square" lIns="0" tIns="0" rIns="0" bIns="0" rtlCol="0" anchor="t"/>
          <a:lstStyle/>
          <a:p>
            <a:pPr indent="0" marL="0">
              <a:buNone/>
            </a:pPr>
            <a:r>
              <a:rPr lang="en-US" sz="1700" b="1" dirty="0">
                <a:solidFill>
                  <a:srgbClr val="292A2E"/>
                </a:solidFill>
                <a:latin typeface="Sukhumvit Set" pitchFamily="34" charset="0"/>
                <a:ea typeface="Sukhumvit Set" pitchFamily="34" charset="-122"/>
                <a:cs typeface="Sukhumvit Set" pitchFamily="34" charset="-120"/>
              </a:rPr>
              <a:t>ออกแบบระบบ</a:t>
            </a:r>
            <a:endParaRPr lang="en-US" sz="1700" dirty="0"/>
          </a:p>
        </p:txBody>
      </p:sp>
      <p:sp>
        <p:nvSpPr>
          <p:cNvPr id="16" name="Text 14"/>
          <p:cNvSpPr txBox="1"/>
          <p:nvPr/>
        </p:nvSpPr>
        <p:spPr>
          <a:xfrm>
            <a:off x="6400800" y="3520440"/>
            <a:ext cx="2286000" cy="1371600"/>
          </a:xfrm>
          <a:prstGeom prst="rect">
            <a:avLst/>
          </a:prstGeom>
          <a:noFill/>
          <a:ln/>
        </p:spPr>
        <p:txBody>
          <a:bodyPr wrap="square" lIns="0" tIns="0" rIns="0" bIns="0" rtlCol="0" anchor="t"/>
          <a:lstStyle/>
          <a:p>
            <a:pPr indent="0" marL="0">
              <a:buNone/>
            </a:pPr>
            <a:r>
              <a:rPr lang="en-US" sz="1300" dirty="0">
                <a:solidFill>
                  <a:srgbClr val="505258"/>
                </a:solidFill>
                <a:latin typeface="Sukhumvit Set" pitchFamily="34" charset="0"/>
                <a:ea typeface="Sukhumvit Set" pitchFamily="34" charset="-122"/>
                <a:cs typeface="Sukhumvit Set" pitchFamily="34" charset="-120"/>
              </a:rPr>
              <a:t>Use Case Description, Sequence, Class, State, DFD, ER</a:t>
            </a:r>
            <a:endParaRPr lang="en-US" sz="1300" dirty="0"/>
          </a:p>
        </p:txBody>
      </p:sp>
      <p:sp>
        <p:nvSpPr>
          <p:cNvPr id="17" name="Shape 15"/>
          <p:cNvSpPr/>
          <p:nvPr/>
        </p:nvSpPr>
        <p:spPr>
          <a:xfrm>
            <a:off x="9006840" y="1645920"/>
            <a:ext cx="2697480" cy="3474720"/>
          </a:xfrm>
          <a:prstGeom prst="roundRect">
            <a:avLst>
              <a:gd name="adj" fmla="val 2034"/>
            </a:avLst>
          </a:prstGeom>
          <a:solidFill>
            <a:srgbClr val="FFFFFF"/>
          </a:solidFill>
          <a:ln w="9525">
            <a:solidFill>
              <a:srgbClr val="DDDEDE"/>
            </a:solidFill>
            <a:prstDash val="solid"/>
          </a:ln>
        </p:spPr>
      </p:sp>
      <p:sp>
        <p:nvSpPr>
          <p:cNvPr id="18" name="Text 16"/>
          <p:cNvSpPr txBox="1"/>
          <p:nvPr/>
        </p:nvSpPr>
        <p:spPr>
          <a:xfrm>
            <a:off x="9235440" y="1828800"/>
            <a:ext cx="2286000" cy="731520"/>
          </a:xfrm>
          <a:prstGeom prst="rect">
            <a:avLst/>
          </a:prstGeom>
          <a:noFill/>
          <a:ln/>
        </p:spPr>
        <p:txBody>
          <a:bodyPr wrap="square" lIns="0" tIns="0" rIns="0" bIns="0" rtlCol="0" anchor="t"/>
          <a:lstStyle/>
          <a:p>
            <a:pPr indent="0" marL="0">
              <a:buNone/>
            </a:pPr>
            <a:r>
              <a:rPr lang="en-US" sz="3600" b="1" dirty="0">
                <a:solidFill>
                  <a:srgbClr val="FF5A36"/>
                </a:solidFill>
                <a:latin typeface="Sukhumvit Set" pitchFamily="34" charset="0"/>
                <a:ea typeface="Sukhumvit Set" pitchFamily="34" charset="-122"/>
                <a:cs typeface="Sukhumvit Set" pitchFamily="34" charset="-120"/>
              </a:rPr>
              <a:t>04</a:t>
            </a:r>
            <a:endParaRPr lang="en-US" sz="3600" dirty="0"/>
          </a:p>
        </p:txBody>
      </p:sp>
      <p:sp>
        <p:nvSpPr>
          <p:cNvPr id="19" name="Text 17"/>
          <p:cNvSpPr txBox="1"/>
          <p:nvPr/>
        </p:nvSpPr>
        <p:spPr>
          <a:xfrm>
            <a:off x="9235440" y="2651760"/>
            <a:ext cx="2286000" cy="822960"/>
          </a:xfrm>
          <a:prstGeom prst="rect">
            <a:avLst/>
          </a:prstGeom>
          <a:noFill/>
          <a:ln/>
        </p:spPr>
        <p:txBody>
          <a:bodyPr wrap="square" lIns="0" tIns="0" rIns="0" bIns="0" rtlCol="0" anchor="t"/>
          <a:lstStyle/>
          <a:p>
            <a:pPr indent="0" marL="0">
              <a:buNone/>
            </a:pPr>
            <a:r>
              <a:rPr lang="en-US" sz="1700" b="1" dirty="0">
                <a:solidFill>
                  <a:srgbClr val="292A2E"/>
                </a:solidFill>
                <a:latin typeface="Sukhumvit Set" pitchFamily="34" charset="0"/>
                <a:ea typeface="Sukhumvit Set" pitchFamily="34" charset="-122"/>
                <a:cs typeface="Sukhumvit Set" pitchFamily="34" charset="-120"/>
              </a:rPr>
              <a:t>พัฒนาและทดสอบ</a:t>
            </a:r>
            <a:endParaRPr lang="en-US" sz="1700" dirty="0"/>
          </a:p>
        </p:txBody>
      </p:sp>
      <p:sp>
        <p:nvSpPr>
          <p:cNvPr id="20" name="Text 18"/>
          <p:cNvSpPr txBox="1"/>
          <p:nvPr/>
        </p:nvSpPr>
        <p:spPr>
          <a:xfrm>
            <a:off x="9235440" y="3520440"/>
            <a:ext cx="2286000" cy="1371600"/>
          </a:xfrm>
          <a:prstGeom prst="rect">
            <a:avLst/>
          </a:prstGeom>
          <a:noFill/>
          <a:ln/>
        </p:spPr>
        <p:txBody>
          <a:bodyPr wrap="square" lIns="0" tIns="0" rIns="0" bIns="0" rtlCol="0" anchor="t"/>
          <a:lstStyle/>
          <a:p>
            <a:pPr indent="0" marL="0">
              <a:buNone/>
            </a:pPr>
            <a:r>
              <a:rPr lang="en-US" sz="1300" dirty="0">
                <a:solidFill>
                  <a:srgbClr val="505258"/>
                </a:solidFill>
                <a:latin typeface="Sukhumvit Set" pitchFamily="34" charset="0"/>
                <a:ea typeface="Sukhumvit Set" pitchFamily="34" charset="-122"/>
                <a:cs typeface="Sukhumvit Set" pitchFamily="34" charset="-120"/>
              </a:rPr>
              <a:t>Platform, หน้าจอ, รายงาน, SQL และผลการทดสอบ</a:t>
            </a:r>
            <a:endParaRPr lang="en-US" sz="13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Problems</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ปัญหาที่พบและเวลาที่เสียไป</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01 PROBLEMS</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583680" cy="914400"/>
        </p:xfrm>
        <a:graphic>
          <a:graphicData uri="http://schemas.openxmlformats.org/drawingml/2006/table">
            <a:tbl>
              <a:tblPr/>
              <a:tblGrid>
                <a:gridCol w="3017520"/>
                <a:gridCol w="1188720"/>
                <a:gridCol w="1188720"/>
                <a:gridCol w="1188720"/>
              </a:tblGrid>
              <a:tr h="0">
                <a:tc>
                  <a:txBody>
                    <a:bodyPr/>
                    <a:lstStyle/>
                    <a:p>
                      <a:pPr indent="0" marL="0">
                        <a:buNone/>
                      </a:pPr>
                      <a:r>
                        <a:rPr lang="en-US" sz="1300" b="1" dirty="0">
                          <a:solidFill>
                            <a:srgbClr val="FFFFFF"/>
                          </a:solidFill>
                          <a:latin typeface="Sukhumvit Set" pitchFamily="34" charset="0"/>
                          <a:ea typeface="Sukhumvit Set" pitchFamily="34" charset="-122"/>
                          <a:cs typeface="Sukhumvit Set" pitchFamily="34" charset="-120"/>
                        </a:rPr>
                        <a:t>งาน</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solidFill>
                      <a:srgbClr val="1868DB"/>
                    </a:solidFill>
                  </a:tcPr>
                </a:tc>
                <a:tc>
                  <a:txBody>
                    <a:bodyPr/>
                    <a:lstStyle/>
                    <a:p>
                      <a:pPr indent="0" marL="0">
                        <a:buNone/>
                      </a:pPr>
                      <a:r>
                        <a:rPr lang="en-US" sz="1300" b="1" dirty="0">
                          <a:solidFill>
                            <a:srgbClr val="FFFFFF"/>
                          </a:solidFill>
                          <a:latin typeface="Sukhumvit Set" pitchFamily="34" charset="0"/>
                          <a:ea typeface="Sukhumvit Set" pitchFamily="34" charset="-122"/>
                          <a:cs typeface="Sukhumvit Set" pitchFamily="34" charset="-120"/>
                        </a:rPr>
                        <a:t>นาที/ออเดอร์</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solidFill>
                      <a:srgbClr val="1868DB"/>
                    </a:solidFill>
                  </a:tcPr>
                </a:tc>
                <a:tc>
                  <a:txBody>
                    <a:bodyPr/>
                    <a:lstStyle/>
                    <a:p>
                      <a:pPr indent="0" marL="0">
                        <a:buNone/>
                      </a:pPr>
                      <a:r>
                        <a:rPr lang="en-US" sz="1300" b="1" dirty="0">
                          <a:solidFill>
                            <a:srgbClr val="FFFFFF"/>
                          </a:solidFill>
                          <a:latin typeface="Sukhumvit Set" pitchFamily="34" charset="0"/>
                          <a:ea typeface="Sukhumvit Set" pitchFamily="34" charset="-122"/>
                          <a:cs typeface="Sukhumvit Set" pitchFamily="34" charset="-120"/>
                        </a:rPr>
                        <a:t>5 ออเดอร์/วัน</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solidFill>
                      <a:srgbClr val="1868DB"/>
                    </a:solidFill>
                  </a:tcPr>
                </a:tc>
                <a:tc>
                  <a:txBody>
                    <a:bodyPr/>
                    <a:lstStyle/>
                    <a:p>
                      <a:pPr indent="0" marL="0">
                        <a:buNone/>
                      </a:pPr>
                      <a:r>
                        <a:rPr lang="en-US" sz="1300" b="1" dirty="0">
                          <a:solidFill>
                            <a:srgbClr val="FFFFFF"/>
                          </a:solidFill>
                          <a:latin typeface="Sukhumvit Set" pitchFamily="34" charset="0"/>
                          <a:ea typeface="Sukhumvit Set" pitchFamily="34" charset="-122"/>
                          <a:cs typeface="Sukhumvit Set" pitchFamily="34" charset="-120"/>
                        </a:rPr>
                        <a:t>10 ออเดอร์/วัน</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solidFill>
                      <a:srgbClr val="1868DB"/>
                    </a:solidFill>
                  </a:tcPr>
                </a:tc>
              </a:tr>
              <a:tr h="0">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ตรวจคำสั่งซื้อใหม่</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10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r h="0">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เช็กสต๊อก 2 คลัง</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3</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15</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30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r h="0">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จับคู่กับเลข RSL</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10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r h="0">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จัดรูปแบบและพิมพ์ใบปะ</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3</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15</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30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r h="0">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แจ้งเลขติดตาม</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10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dirty="0">
                          <a:solidFill>
                            <a:srgbClr val="292A2E"/>
                          </a:solidFill>
                          <a:latin typeface="Sukhumvit Set" pitchFamily="34" charset="0"/>
                          <a:ea typeface="Sukhumvit Set" pitchFamily="34" charset="-122"/>
                          <a:cs typeface="Sukhumvit Set" pitchFamily="34" charset="-120"/>
                        </a:rPr>
                        <a:t>20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r h="0">
                <a:tc>
                  <a:txBody>
                    <a:bodyPr/>
                    <a:lstStyle/>
                    <a:p>
                      <a:pPr indent="0" marL="0">
                        <a:buNone/>
                      </a:pPr>
                      <a:r>
                        <a:rPr lang="en-US" sz="1300" b="1" dirty="0">
                          <a:solidFill>
                            <a:srgbClr val="292A2E"/>
                          </a:solidFill>
                          <a:latin typeface="Sukhumvit Set" pitchFamily="34" charset="0"/>
                          <a:ea typeface="Sukhumvit Set" pitchFamily="34" charset="-122"/>
                          <a:cs typeface="Sukhumvit Set" pitchFamily="34" charset="-120"/>
                        </a:rPr>
                        <a:t>รวม (นาที)</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b="1" dirty="0">
                          <a:solidFill>
                            <a:srgbClr val="292A2E"/>
                          </a:solidFill>
                          <a:latin typeface="Sukhumvit Set" pitchFamily="34" charset="0"/>
                          <a:ea typeface="Sukhumvit Set" pitchFamily="34" charset="-122"/>
                          <a:cs typeface="Sukhumvit Set" pitchFamily="34" charset="-120"/>
                        </a:rPr>
                        <a:t>12</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b="1" dirty="0">
                          <a:solidFill>
                            <a:srgbClr val="292A2E"/>
                          </a:solidFill>
                          <a:latin typeface="Sukhumvit Set" pitchFamily="34" charset="0"/>
                          <a:ea typeface="Sukhumvit Set" pitchFamily="34" charset="-122"/>
                          <a:cs typeface="Sukhumvit Set" pitchFamily="34" charset="-120"/>
                        </a:rPr>
                        <a:t>60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c>
                  <a:txBody>
                    <a:bodyPr/>
                    <a:lstStyle/>
                    <a:p>
                      <a:pPr indent="0" marL="0">
                        <a:buNone/>
                      </a:pPr>
                      <a:r>
                        <a:rPr lang="en-US" sz="1300" b="1" dirty="0">
                          <a:solidFill>
                            <a:srgbClr val="292A2E"/>
                          </a:solidFill>
                          <a:latin typeface="Sukhumvit Set" pitchFamily="34" charset="0"/>
                          <a:ea typeface="Sukhumvit Set" pitchFamily="34" charset="-122"/>
                          <a:cs typeface="Sukhumvit Set" pitchFamily="34" charset="-120"/>
                        </a:rPr>
                        <a:t>120</a:t>
                      </a:r>
                      <a:endParaRPr lang="en-US" sz="1300" dirty="0">
                        <a:latin typeface="Sukhumvit Set" charset="0"/>
                        <a:ea typeface="Sukhumvit Set" charset="0"/>
                        <a:cs typeface="Sukhumvit Set" charset="0"/>
                      </a:endParaRPr>
                    </a:p>
                  </a:txBody>
                  <a:tcPr marL="63500" marR="63500" marT="25400" marB="25400" anchor="ctr">
                    <a:lnL w="6350" cap="flat" cmpd="sng" algn="ctr">
                      <a:solidFill>
                        <a:srgbClr val="DDDEDE"/>
                      </a:solidFill>
                      <a:prstDash val="solid"/>
                      <a:round/>
                      <a:headEnd type="none" w="med" len="med"/>
                      <a:tailEnd type="none" w="med" len="med"/>
                    </a:lnL>
                    <a:lnR w="6350" cap="flat" cmpd="sng" algn="ctr">
                      <a:solidFill>
                        <a:srgbClr val="DDDEDE"/>
                      </a:solidFill>
                      <a:prstDash val="solid"/>
                      <a:round/>
                      <a:headEnd type="none" w="med" len="med"/>
                      <a:tailEnd type="none" w="med" len="med"/>
                    </a:lnR>
                    <a:lnT w="6350" cap="flat" cmpd="sng" algn="ctr">
                      <a:solidFill>
                        <a:srgbClr val="DDDEDE"/>
                      </a:solidFill>
                      <a:prstDash val="solid"/>
                      <a:round/>
                      <a:headEnd type="none" w="med" len="med"/>
                      <a:tailEnd type="none" w="med" len="med"/>
                    </a:lnT>
                    <a:lnB w="6350" cap="flat" cmpd="sng" algn="ctr">
                      <a:solidFill>
                        <a:srgbClr val="DDDEDE"/>
                      </a:solidFill>
                      <a:prstDash val="solid"/>
                      <a:round/>
                      <a:headEnd type="none" w="med" len="med"/>
                      <a:tailEnd type="none" w="med" len="med"/>
                    </a:lnB>
                  </a:tcPr>
                </a:tc>
              </a:tr>
            </a:tbl>
          </a:graphicData>
        </a:graphic>
      </p:graphicFrame>
      <p:sp>
        <p:nvSpPr>
          <p:cNvPr id="6" name="Text 3"/>
          <p:cNvSpPr txBox="1"/>
          <p:nvPr/>
        </p:nvSpPr>
        <p:spPr>
          <a:xfrm>
            <a:off x="502920" y="4663440"/>
            <a:ext cx="6583680" cy="274320"/>
          </a:xfrm>
          <a:prstGeom prst="rect">
            <a:avLst/>
          </a:prstGeom>
          <a:noFill/>
          <a:ln/>
        </p:spPr>
        <p:txBody>
          <a:bodyPr wrap="square" lIns="0" tIns="0" rIns="0" bIns="0" rtlCol="0" anchor="t"/>
          <a:lstStyle/>
          <a:p>
            <a:pPr indent="0" marL="0">
              <a:buNone/>
            </a:pPr>
            <a:r>
              <a:rPr lang="en-US" sz="1100" dirty="0">
                <a:solidFill>
                  <a:srgbClr val="505258"/>
                </a:solidFill>
                <a:latin typeface="Sukhumvit Set" pitchFamily="34" charset="0"/>
                <a:ea typeface="Sukhumvit Set" pitchFamily="34" charset="-122"/>
                <a:cs typeface="Sukhumvit Set" pitchFamily="34" charset="-120"/>
              </a:rPr>
              <a:t>ค่าประมาณจากขั้นตอนที่เจ้าของเล่า ยังไม่ได้จับเวลาจริง</a:t>
            </a:r>
            <a:endParaRPr lang="en-US" sz="1100" dirty="0"/>
          </a:p>
        </p:txBody>
      </p:sp>
      <p:sp>
        <p:nvSpPr>
          <p:cNvPr id="7" name="Shape 4"/>
          <p:cNvSpPr/>
          <p:nvPr/>
        </p:nvSpPr>
        <p:spPr>
          <a:xfrm>
            <a:off x="7406640" y="1463040"/>
            <a:ext cx="2011680" cy="1371600"/>
          </a:xfrm>
          <a:prstGeom prst="roundRect">
            <a:avLst>
              <a:gd name="adj" fmla="val 4000"/>
            </a:avLst>
          </a:prstGeom>
          <a:solidFill>
            <a:srgbClr val="FFFFFF"/>
          </a:solidFill>
          <a:ln w="9525">
            <a:solidFill>
              <a:srgbClr val="DDDEDE"/>
            </a:solidFill>
            <a:prstDash val="solid"/>
          </a:ln>
        </p:spPr>
      </p:sp>
      <p:sp>
        <p:nvSpPr>
          <p:cNvPr id="8" name="Text 5"/>
          <p:cNvSpPr txBox="1"/>
          <p:nvPr/>
        </p:nvSpPr>
        <p:spPr>
          <a:xfrm>
            <a:off x="7589520" y="1572768"/>
            <a:ext cx="1737360" cy="685800"/>
          </a:xfrm>
          <a:prstGeom prst="rect">
            <a:avLst/>
          </a:prstGeom>
          <a:noFill/>
          <a:ln/>
        </p:spPr>
        <p:txBody>
          <a:bodyPr wrap="square" lIns="0" tIns="0" rIns="0" bIns="0" rtlCol="0" anchor="ctr"/>
          <a:lstStyle/>
          <a:p>
            <a:pPr indent="0" marL="0">
              <a:buNone/>
            </a:pPr>
            <a:r>
              <a:rPr lang="en-US" sz="3200" b="1" dirty="0">
                <a:solidFill>
                  <a:srgbClr val="1868DB"/>
                </a:solidFill>
                <a:latin typeface="Sukhumvit Set" pitchFamily="34" charset="0"/>
                <a:ea typeface="Sukhumvit Set" pitchFamily="34" charset="-122"/>
                <a:cs typeface="Sukhumvit Set" pitchFamily="34" charset="-120"/>
              </a:rPr>
              <a:t>1–2 ชม.</a:t>
            </a:r>
            <a:endParaRPr lang="en-US" sz="3200" dirty="0"/>
          </a:p>
        </p:txBody>
      </p:sp>
      <p:sp>
        <p:nvSpPr>
          <p:cNvPr id="9" name="Text 6"/>
          <p:cNvSpPr txBox="1"/>
          <p:nvPr/>
        </p:nvSpPr>
        <p:spPr>
          <a:xfrm>
            <a:off x="7589520" y="2258568"/>
            <a:ext cx="1737360" cy="548640"/>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งานมือต่อวัน</a:t>
            </a:r>
            <a:endParaRPr lang="en-US" sz="1200" dirty="0"/>
          </a:p>
        </p:txBody>
      </p:sp>
      <p:sp>
        <p:nvSpPr>
          <p:cNvPr id="10" name="Shape 7"/>
          <p:cNvSpPr/>
          <p:nvPr/>
        </p:nvSpPr>
        <p:spPr>
          <a:xfrm>
            <a:off x="9601200" y="1463040"/>
            <a:ext cx="2084832" cy="1371600"/>
          </a:xfrm>
          <a:prstGeom prst="roundRect">
            <a:avLst>
              <a:gd name="adj" fmla="val 4000"/>
            </a:avLst>
          </a:prstGeom>
          <a:solidFill>
            <a:srgbClr val="FFFFFF"/>
          </a:solidFill>
          <a:ln w="9525">
            <a:solidFill>
              <a:srgbClr val="DDDEDE"/>
            </a:solidFill>
            <a:prstDash val="solid"/>
          </a:ln>
        </p:spPr>
      </p:sp>
      <p:sp>
        <p:nvSpPr>
          <p:cNvPr id="11" name="Text 8"/>
          <p:cNvSpPr txBox="1"/>
          <p:nvPr/>
        </p:nvSpPr>
        <p:spPr>
          <a:xfrm>
            <a:off x="9784080" y="1572768"/>
            <a:ext cx="1810512" cy="685800"/>
          </a:xfrm>
          <a:prstGeom prst="rect">
            <a:avLst/>
          </a:prstGeom>
          <a:noFill/>
          <a:ln/>
        </p:spPr>
        <p:txBody>
          <a:bodyPr wrap="square" lIns="0" tIns="0" rIns="0" bIns="0" rtlCol="0" anchor="ctr"/>
          <a:lstStyle/>
          <a:p>
            <a:pPr indent="0" marL="0">
              <a:buNone/>
            </a:pPr>
            <a:r>
              <a:rPr lang="en-US" sz="3200" b="1" dirty="0">
                <a:solidFill>
                  <a:srgbClr val="FF5A36"/>
                </a:solidFill>
                <a:latin typeface="Sukhumvit Set" pitchFamily="34" charset="0"/>
                <a:ea typeface="Sukhumvit Set" pitchFamily="34" charset="-122"/>
                <a:cs typeface="Sukhumvit Set" pitchFamily="34" charset="-120"/>
              </a:rPr>
              <a:t>400 ¥</a:t>
            </a:r>
            <a:endParaRPr lang="en-US" sz="3200" dirty="0"/>
          </a:p>
        </p:txBody>
      </p:sp>
      <p:sp>
        <p:nvSpPr>
          <p:cNvPr id="12" name="Text 9"/>
          <p:cNvSpPr txBox="1"/>
          <p:nvPr/>
        </p:nvSpPr>
        <p:spPr>
          <a:xfrm>
            <a:off x="9784080" y="2258568"/>
            <a:ext cx="1810512" cy="548640"/>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ค่าส่งแพงกว่าคู่แข่งต่อชิ้น</a:t>
            </a:r>
            <a:endParaRPr lang="en-US" sz="1200" dirty="0"/>
          </a:p>
        </p:txBody>
      </p:sp>
      <p:sp>
        <p:nvSpPr>
          <p:cNvPr id="13" name="Shape 10"/>
          <p:cNvSpPr/>
          <p:nvPr/>
        </p:nvSpPr>
        <p:spPr>
          <a:xfrm>
            <a:off x="7406640" y="3017520"/>
            <a:ext cx="2011680" cy="1371600"/>
          </a:xfrm>
          <a:prstGeom prst="roundRect">
            <a:avLst>
              <a:gd name="adj" fmla="val 4000"/>
            </a:avLst>
          </a:prstGeom>
          <a:solidFill>
            <a:srgbClr val="FFFFFF"/>
          </a:solidFill>
          <a:ln w="9525">
            <a:solidFill>
              <a:srgbClr val="DDDEDE"/>
            </a:solidFill>
            <a:prstDash val="solid"/>
          </a:ln>
        </p:spPr>
      </p:sp>
      <p:sp>
        <p:nvSpPr>
          <p:cNvPr id="14" name="Text 11"/>
          <p:cNvSpPr txBox="1"/>
          <p:nvPr/>
        </p:nvSpPr>
        <p:spPr>
          <a:xfrm>
            <a:off x="7589520" y="3127248"/>
            <a:ext cx="1737360" cy="685800"/>
          </a:xfrm>
          <a:prstGeom prst="rect">
            <a:avLst/>
          </a:prstGeom>
          <a:noFill/>
          <a:ln/>
        </p:spPr>
        <p:txBody>
          <a:bodyPr wrap="square" lIns="0" tIns="0" rIns="0" bIns="0" rtlCol="0" anchor="ctr"/>
          <a:lstStyle/>
          <a:p>
            <a:pPr indent="0" marL="0">
              <a:buNone/>
            </a:pPr>
            <a:r>
              <a:rPr lang="en-US" sz="3200" b="1" dirty="0">
                <a:solidFill>
                  <a:srgbClr val="1868DB"/>
                </a:solidFill>
                <a:latin typeface="Sukhumvit Set" pitchFamily="34" charset="0"/>
                <a:ea typeface="Sukhumvit Set" pitchFamily="34" charset="-122"/>
                <a:cs typeface="Sukhumvit Set" pitchFamily="34" charset="-120"/>
              </a:rPr>
              <a:t>8 รายการ</a:t>
            </a:r>
            <a:endParaRPr lang="en-US" sz="3200" dirty="0"/>
          </a:p>
        </p:txBody>
      </p:sp>
      <p:sp>
        <p:nvSpPr>
          <p:cNvPr id="15" name="Text 12"/>
          <p:cNvSpPr txBox="1"/>
          <p:nvPr/>
        </p:nvSpPr>
        <p:spPr>
          <a:xfrm>
            <a:off x="7589520" y="3813048"/>
            <a:ext cx="1737360" cy="548640"/>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ต้องรวมเพื่อคำนวณต้นทุน 1 SKU</a:t>
            </a:r>
            <a:endParaRPr lang="en-US" sz="1200" dirty="0"/>
          </a:p>
        </p:txBody>
      </p:sp>
      <p:sp>
        <p:nvSpPr>
          <p:cNvPr id="16" name="Shape 13"/>
          <p:cNvSpPr/>
          <p:nvPr/>
        </p:nvSpPr>
        <p:spPr>
          <a:xfrm>
            <a:off x="9601200" y="3017520"/>
            <a:ext cx="2084832" cy="1371600"/>
          </a:xfrm>
          <a:prstGeom prst="roundRect">
            <a:avLst>
              <a:gd name="adj" fmla="val 4000"/>
            </a:avLst>
          </a:prstGeom>
          <a:solidFill>
            <a:srgbClr val="FFFFFF"/>
          </a:solidFill>
          <a:ln w="9525">
            <a:solidFill>
              <a:srgbClr val="DDDEDE"/>
            </a:solidFill>
            <a:prstDash val="solid"/>
          </a:ln>
        </p:spPr>
      </p:sp>
      <p:sp>
        <p:nvSpPr>
          <p:cNvPr id="17" name="Text 14"/>
          <p:cNvSpPr txBox="1"/>
          <p:nvPr/>
        </p:nvSpPr>
        <p:spPr>
          <a:xfrm>
            <a:off x="9784080" y="3127248"/>
            <a:ext cx="1810512" cy="685800"/>
          </a:xfrm>
          <a:prstGeom prst="rect">
            <a:avLst/>
          </a:prstGeom>
          <a:noFill/>
          <a:ln/>
        </p:spPr>
        <p:txBody>
          <a:bodyPr wrap="square" lIns="0" tIns="0" rIns="0" bIns="0" rtlCol="0" anchor="ctr"/>
          <a:lstStyle/>
          <a:p>
            <a:pPr indent="0" marL="0">
              <a:buNone/>
            </a:pPr>
            <a:r>
              <a:rPr lang="en-US" sz="3200" b="1" dirty="0">
                <a:solidFill>
                  <a:srgbClr val="FF5A36"/>
                </a:solidFill>
                <a:latin typeface="Sukhumvit Set" pitchFamily="34" charset="0"/>
                <a:ea typeface="Sukhumvit Set" pitchFamily="34" charset="-122"/>
                <a:cs typeface="Sukhumvit Set" pitchFamily="34" charset="-120"/>
              </a:rPr>
              <a:t>20 ชิ้น</a:t>
            </a:r>
            <a:endParaRPr lang="en-US" sz="3200" dirty="0"/>
          </a:p>
        </p:txBody>
      </p:sp>
      <p:sp>
        <p:nvSpPr>
          <p:cNvPr id="18" name="Text 15"/>
          <p:cNvSpPr txBox="1"/>
          <p:nvPr/>
        </p:nvSpPr>
        <p:spPr>
          <a:xfrm>
            <a:off x="9784080" y="3813048"/>
            <a:ext cx="1810512" cy="548640"/>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ของเสียใน binder ล็อตแรก 500 ชิ้น</a:t>
            </a:r>
            <a:endParaRPr lang="en-US" sz="1200" dirty="0"/>
          </a:p>
        </p:txBody>
      </p:sp>
      <p:sp>
        <p:nvSpPr>
          <p:cNvPr id="19" name="Text 16"/>
          <p:cNvSpPr txBox="1"/>
          <p:nvPr/>
        </p:nvSpPr>
        <p:spPr>
          <a:xfrm>
            <a:off x="7406640" y="4617720"/>
            <a:ext cx="4297680" cy="173736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พิมพ์ใบปะหน้าพัสดุด้วยมือทุกออเดอร์</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เช็กสต๊อกข้ามคลังบริษัทและ RSL เอง</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สั่งซื้อเติมสต๊อกด้วยความรู้สึก</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คำนวณต้นทุนจริงต่อชิ้นยาก</a:t>
            </a:r>
            <a:endParaRPr lang="en-US" sz="13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Objectives and scope</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วัตถุประสงค์และขอบเขตเฟส 1</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01 OBJECTIVES</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463040"/>
            <a:ext cx="3611880" cy="2103120"/>
          </a:xfrm>
          <a:prstGeom prst="roundRect">
            <a:avLst>
              <a:gd name="adj" fmla="val 2609"/>
            </a:avLst>
          </a:prstGeom>
          <a:solidFill>
            <a:srgbClr val="FFFFFF"/>
          </a:solidFill>
          <a:ln w="9525">
            <a:solidFill>
              <a:srgbClr val="DDDEDE"/>
            </a:solidFill>
            <a:prstDash val="solid"/>
          </a:ln>
        </p:spPr>
      </p:sp>
      <p:sp>
        <p:nvSpPr>
          <p:cNvPr id="6" name="Text 4"/>
          <p:cNvSpPr txBox="1"/>
          <p:nvPr/>
        </p:nvSpPr>
        <p:spPr>
          <a:xfrm>
            <a:off x="731520" y="1645920"/>
            <a:ext cx="3200400" cy="457200"/>
          </a:xfrm>
          <a:prstGeom prst="rect">
            <a:avLst/>
          </a:prstGeom>
          <a:noFill/>
          <a:ln/>
        </p:spPr>
        <p:txBody>
          <a:bodyPr wrap="square" lIns="0" tIns="0" rIns="0" bIns="0" rtlCol="0" anchor="t"/>
          <a:lstStyle/>
          <a:p>
            <a:pPr indent="0" marL="0">
              <a:buNone/>
            </a:pPr>
            <a:r>
              <a:rPr lang="en-US" sz="2000" b="1" dirty="0">
                <a:solidFill>
                  <a:srgbClr val="1868DB"/>
                </a:solidFill>
                <a:latin typeface="Sukhumvit Set" pitchFamily="34" charset="0"/>
                <a:ea typeface="Sukhumvit Set" pitchFamily="34" charset="-122"/>
                <a:cs typeface="Sukhumvit Set" pitchFamily="34" charset="-120"/>
              </a:rPr>
              <a:t>Auto label</a:t>
            </a:r>
            <a:endParaRPr lang="en-US" sz="2000" dirty="0"/>
          </a:p>
        </p:txBody>
      </p:sp>
      <p:sp>
        <p:nvSpPr>
          <p:cNvPr id="7" name="Text 5"/>
          <p:cNvSpPr txBox="1"/>
          <p:nvPr/>
        </p:nvSpPr>
        <p:spPr>
          <a:xfrm>
            <a:off x="731520" y="2194560"/>
            <a:ext cx="3200400" cy="1188720"/>
          </a:xfrm>
          <a:prstGeom prst="rect">
            <a:avLst/>
          </a:prstGeom>
          <a:noFill/>
          <a:ln/>
        </p:spPr>
        <p:txBody>
          <a:bodyPr wrap="square" lIns="0" tIns="0" rIns="0" bIns="0" rtlCol="0" anchor="t"/>
          <a:lstStyle/>
          <a:p>
            <a:pPr indent="0" marL="0">
              <a:buNone/>
            </a:pPr>
            <a:r>
              <a:rPr lang="en-US" sz="1400" dirty="0">
                <a:solidFill>
                  <a:srgbClr val="292A2E"/>
                </a:solidFill>
                <a:latin typeface="Sukhumvit Set" pitchFamily="34" charset="0"/>
                <a:ea typeface="Sukhumvit Set" pitchFamily="34" charset="-122"/>
                <a:cs typeface="Sukhumvit Set" pitchFamily="34" charset="-120"/>
              </a:rPr>
              <a:t>จัดรูปแบบใบปะหน้าพัสดุให้ทันทีเมื่อจับคู่ RSL เหลือแค่กดพิมพ์</a:t>
            </a:r>
            <a:endParaRPr lang="en-US" sz="1400" dirty="0"/>
          </a:p>
        </p:txBody>
      </p:sp>
      <p:sp>
        <p:nvSpPr>
          <p:cNvPr id="8" name="Shape 6"/>
          <p:cNvSpPr/>
          <p:nvPr/>
        </p:nvSpPr>
        <p:spPr>
          <a:xfrm>
            <a:off x="4251960" y="1463040"/>
            <a:ext cx="3611880" cy="2103120"/>
          </a:xfrm>
          <a:prstGeom prst="roundRect">
            <a:avLst>
              <a:gd name="adj" fmla="val 2609"/>
            </a:avLst>
          </a:prstGeom>
          <a:solidFill>
            <a:srgbClr val="FFFFFF"/>
          </a:solidFill>
          <a:ln w="9525">
            <a:solidFill>
              <a:srgbClr val="DDDEDE"/>
            </a:solidFill>
            <a:prstDash val="solid"/>
          </a:ln>
        </p:spPr>
      </p:sp>
      <p:sp>
        <p:nvSpPr>
          <p:cNvPr id="9" name="Text 7"/>
          <p:cNvSpPr txBox="1"/>
          <p:nvPr/>
        </p:nvSpPr>
        <p:spPr>
          <a:xfrm>
            <a:off x="4480560" y="1645920"/>
            <a:ext cx="3200400" cy="457200"/>
          </a:xfrm>
          <a:prstGeom prst="rect">
            <a:avLst/>
          </a:prstGeom>
          <a:noFill/>
          <a:ln/>
        </p:spPr>
        <p:txBody>
          <a:bodyPr wrap="square" lIns="0" tIns="0" rIns="0" bIns="0" rtlCol="0" anchor="t"/>
          <a:lstStyle/>
          <a:p>
            <a:pPr indent="0" marL="0">
              <a:buNone/>
            </a:pPr>
            <a:r>
              <a:rPr lang="en-US" sz="2000" b="1" dirty="0">
                <a:solidFill>
                  <a:srgbClr val="1868DB"/>
                </a:solidFill>
                <a:latin typeface="Sukhumvit Set" pitchFamily="34" charset="0"/>
                <a:ea typeface="Sukhumvit Set" pitchFamily="34" charset="-122"/>
                <a:cs typeface="Sukhumvit Set" pitchFamily="34" charset="-120"/>
              </a:rPr>
              <a:t>Auto reorder</a:t>
            </a:r>
            <a:endParaRPr lang="en-US" sz="2000" dirty="0"/>
          </a:p>
        </p:txBody>
      </p:sp>
      <p:sp>
        <p:nvSpPr>
          <p:cNvPr id="10" name="Text 8"/>
          <p:cNvSpPr txBox="1"/>
          <p:nvPr/>
        </p:nvSpPr>
        <p:spPr>
          <a:xfrm>
            <a:off x="4480560" y="2194560"/>
            <a:ext cx="3200400" cy="1188720"/>
          </a:xfrm>
          <a:prstGeom prst="rect">
            <a:avLst/>
          </a:prstGeom>
          <a:noFill/>
          <a:ln/>
        </p:spPr>
        <p:txBody>
          <a:bodyPr wrap="square" lIns="0" tIns="0" rIns="0" bIns="0" rtlCol="0" anchor="t"/>
          <a:lstStyle/>
          <a:p>
            <a:pPr indent="0" marL="0">
              <a:buNone/>
            </a:pPr>
            <a:r>
              <a:rPr lang="en-US" sz="1400" dirty="0">
                <a:solidFill>
                  <a:srgbClr val="292A2E"/>
                </a:solidFill>
                <a:latin typeface="Sukhumvit Set" pitchFamily="34" charset="0"/>
                <a:ea typeface="Sukhumvit Set" pitchFamily="34" charset="-122"/>
                <a:cs typeface="Sukhumvit Set" pitchFamily="34" charset="-120"/>
              </a:rPr>
              <a:t>แจ้ง SKU ที่ต่ำกว่าจุดสั่งซื้อ เตรียมคำสั่งซื้อให้ เจ้าของกดอนุมัติ</a:t>
            </a:r>
            <a:endParaRPr lang="en-US" sz="1400" dirty="0"/>
          </a:p>
        </p:txBody>
      </p:sp>
      <p:sp>
        <p:nvSpPr>
          <p:cNvPr id="11" name="Shape 9"/>
          <p:cNvSpPr/>
          <p:nvPr/>
        </p:nvSpPr>
        <p:spPr>
          <a:xfrm>
            <a:off x="8001000" y="1463040"/>
            <a:ext cx="3611880" cy="2103120"/>
          </a:xfrm>
          <a:prstGeom prst="roundRect">
            <a:avLst>
              <a:gd name="adj" fmla="val 2609"/>
            </a:avLst>
          </a:prstGeom>
          <a:solidFill>
            <a:srgbClr val="FFFFFF"/>
          </a:solidFill>
          <a:ln w="9525">
            <a:solidFill>
              <a:srgbClr val="DDDEDE"/>
            </a:solidFill>
            <a:prstDash val="solid"/>
          </a:ln>
        </p:spPr>
      </p:sp>
      <p:sp>
        <p:nvSpPr>
          <p:cNvPr id="12" name="Text 10"/>
          <p:cNvSpPr txBox="1"/>
          <p:nvPr/>
        </p:nvSpPr>
        <p:spPr>
          <a:xfrm>
            <a:off x="8229600" y="1645920"/>
            <a:ext cx="3200400" cy="457200"/>
          </a:xfrm>
          <a:prstGeom prst="rect">
            <a:avLst/>
          </a:prstGeom>
          <a:noFill/>
          <a:ln/>
        </p:spPr>
        <p:txBody>
          <a:bodyPr wrap="square" lIns="0" tIns="0" rIns="0" bIns="0" rtlCol="0" anchor="t"/>
          <a:lstStyle/>
          <a:p>
            <a:pPr indent="0" marL="0">
              <a:buNone/>
            </a:pPr>
            <a:r>
              <a:rPr lang="en-US" sz="2000" b="1" dirty="0">
                <a:solidFill>
                  <a:srgbClr val="1868DB"/>
                </a:solidFill>
                <a:latin typeface="Sukhumvit Set" pitchFamily="34" charset="0"/>
                <a:ea typeface="Sukhumvit Set" pitchFamily="34" charset="-122"/>
                <a:cs typeface="Sukhumvit Set" pitchFamily="34" charset="-120"/>
              </a:rPr>
              <a:t>Unit cost</a:t>
            </a:r>
            <a:endParaRPr lang="en-US" sz="2000" dirty="0"/>
          </a:p>
        </p:txBody>
      </p:sp>
      <p:sp>
        <p:nvSpPr>
          <p:cNvPr id="13" name="Text 11"/>
          <p:cNvSpPr txBox="1"/>
          <p:nvPr/>
        </p:nvSpPr>
        <p:spPr>
          <a:xfrm>
            <a:off x="8229600" y="2194560"/>
            <a:ext cx="3200400" cy="1188720"/>
          </a:xfrm>
          <a:prstGeom prst="rect">
            <a:avLst/>
          </a:prstGeom>
          <a:noFill/>
          <a:ln/>
        </p:spPr>
        <p:txBody>
          <a:bodyPr wrap="square" lIns="0" tIns="0" rIns="0" bIns="0" rtlCol="0" anchor="t"/>
          <a:lstStyle/>
          <a:p>
            <a:pPr indent="0" marL="0">
              <a:buNone/>
            </a:pPr>
            <a:r>
              <a:rPr lang="en-US" sz="1400" dirty="0">
                <a:solidFill>
                  <a:srgbClr val="292A2E"/>
                </a:solidFill>
                <a:latin typeface="Sukhumvit Set" pitchFamily="34" charset="0"/>
                <a:ea typeface="Sukhumvit Set" pitchFamily="34" charset="-122"/>
                <a:cs typeface="Sukhumvit Set" pitchFamily="34" charset="-120"/>
              </a:rPr>
              <a:t>คำนวณต้นทุนต่อหน่วยด้วยสูตรเดียวกันทุกครั้ง พร้อมบันทึกประวัติ</a:t>
            </a:r>
            <a:endParaRPr lang="en-US" sz="1400" dirty="0"/>
          </a:p>
        </p:txBody>
      </p:sp>
      <p:sp>
        <p:nvSpPr>
          <p:cNvPr id="14" name="Shape 12"/>
          <p:cNvSpPr/>
          <p:nvPr/>
        </p:nvSpPr>
        <p:spPr>
          <a:xfrm>
            <a:off x="502920" y="3794760"/>
            <a:ext cx="5577840" cy="2514600"/>
          </a:xfrm>
          <a:prstGeom prst="roundRect">
            <a:avLst>
              <a:gd name="adj" fmla="val 2182"/>
            </a:avLst>
          </a:prstGeom>
          <a:solidFill>
            <a:srgbClr val="FFFFFF"/>
          </a:solidFill>
          <a:ln w="9525">
            <a:solidFill>
              <a:srgbClr val="DDDEDE"/>
            </a:solidFill>
            <a:prstDash val="solid"/>
          </a:ln>
        </p:spPr>
      </p:sp>
      <p:sp>
        <p:nvSpPr>
          <p:cNvPr id="15" name="Text 13"/>
          <p:cNvSpPr txBox="1"/>
          <p:nvPr/>
        </p:nvSpPr>
        <p:spPr>
          <a:xfrm>
            <a:off x="685800" y="3922776"/>
            <a:ext cx="5212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ขอบเขตเฟส 1</a:t>
            </a:r>
            <a:endParaRPr lang="en-US" sz="950" dirty="0"/>
          </a:p>
        </p:txBody>
      </p:sp>
      <p:sp>
        <p:nvSpPr>
          <p:cNvPr id="16" name="Text 14"/>
          <p:cNvSpPr txBox="1"/>
          <p:nvPr/>
        </p:nvSpPr>
        <p:spPr>
          <a:xfrm>
            <a:off x="731520" y="4206240"/>
            <a:ext cx="5120640" cy="201168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Rakuten Ichiba + Rakuten RMS + RSL เท่านั้น</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ผู้ใช้คนเดียวคือเจ้าของ (Admin)</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Yahoo! Auctions, Amazon อยู่เฟสถัดไป</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ลูกค้ายังสั่งและชำระเงินผ่าน Rakuten ตามเดิม</a:t>
            </a:r>
            <a:endParaRPr lang="en-US" sz="1400" dirty="0"/>
          </a:p>
        </p:txBody>
      </p:sp>
      <p:sp>
        <p:nvSpPr>
          <p:cNvPr id="17" name="Shape 15"/>
          <p:cNvSpPr/>
          <p:nvPr/>
        </p:nvSpPr>
        <p:spPr>
          <a:xfrm>
            <a:off x="6263640" y="3794760"/>
            <a:ext cx="5422392" cy="2514600"/>
          </a:xfrm>
          <a:prstGeom prst="roundRect">
            <a:avLst>
              <a:gd name="adj" fmla="val 2182"/>
            </a:avLst>
          </a:prstGeom>
          <a:solidFill>
            <a:srgbClr val="FFFFFF"/>
          </a:solidFill>
          <a:ln w="9525">
            <a:solidFill>
              <a:srgbClr val="DDDEDE"/>
            </a:solidFill>
            <a:prstDash val="solid"/>
          </a:ln>
        </p:spPr>
      </p:sp>
      <p:sp>
        <p:nvSpPr>
          <p:cNvPr id="18" name="Text 16"/>
          <p:cNvSpPr txBox="1"/>
          <p:nvPr/>
        </p:nvSpPr>
        <p:spPr>
          <a:xfrm>
            <a:off x="6446520" y="3922776"/>
            <a:ext cx="505663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HUMAN-IN-THE-LOOP</a:t>
            </a:r>
            <a:endParaRPr lang="en-US" sz="950" dirty="0"/>
          </a:p>
        </p:txBody>
      </p:sp>
      <p:sp>
        <p:nvSpPr>
          <p:cNvPr id="19" name="Text 17"/>
          <p:cNvSpPr txBox="1"/>
          <p:nvPr/>
        </p:nvSpPr>
        <p:spPr>
          <a:xfrm>
            <a:off x="6492240" y="4206240"/>
            <a:ext cx="4937760" cy="1920240"/>
          </a:xfrm>
          <a:prstGeom prst="rect">
            <a:avLst/>
          </a:prstGeom>
          <a:noFill/>
          <a:ln/>
        </p:spPr>
        <p:txBody>
          <a:bodyPr wrap="square" lIns="0" tIns="0" rIns="0" bIns="0" rtlCol="0" anchor="t"/>
          <a:lstStyle/>
          <a:p>
            <a:pPr indent="0" marL="0">
              <a:buNone/>
            </a:pPr>
            <a:r>
              <a:rPr lang="en-US" sz="1500" dirty="0">
                <a:solidFill>
                  <a:srgbClr val="292A2E"/>
                </a:solidFill>
                <a:latin typeface="Sukhumvit Set" pitchFamily="34" charset="0"/>
                <a:ea typeface="Sukhumvit Set" pitchFamily="34" charset="-122"/>
                <a:cs typeface="Sukhumvit Set" pitchFamily="34" charset="-120"/>
              </a:rPr>
              <a:t>ระบบทำงานซ้ำให้ แต่ทุกขั้นที่ผูกกับเงินจริง เช่น การสั่งซื้อจาก Supplier (5A) ต้องให้เจ้าของอนุมัติก่อน ตามคำแนะนำของอาจารย์</a:t>
            </a:r>
            <a:endParaRPr lang="en-US" sz="15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Business process: As-Is</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ขั้นตอนเดิมและจุดที่เป็นปัญหา</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02 BUSINESS PROCESS</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749808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713232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AS-IS WITH PAIN POINTS</a:t>
            </a:r>
            <a:endParaRPr lang="en-US" sz="950" dirty="0"/>
          </a:p>
        </p:txBody>
      </p:sp>
      <p:pic>
        <p:nvPicPr>
          <p:cNvPr id="7" name="Image 0" descr="/Users/xbpkdi/xbpkdi_kucs/321-sa-proj/02-chapter2-business-process/img/final/2.3-business-process-pain-points.png">    </p:cNvPr>
          <p:cNvPicPr>
            <a:picLocks noChangeAspect="1"/>
          </p:cNvPicPr>
          <p:nvPr/>
        </p:nvPicPr>
        <p:blipFill>
          <a:blip r:embed="rId1"/>
          <a:stretch>
            <a:fillRect/>
          </a:stretch>
        </p:blipFill>
        <p:spPr>
          <a:xfrm>
            <a:off x="1900211" y="1828800"/>
            <a:ext cx="4703498" cy="4389120"/>
          </a:xfrm>
          <a:prstGeom prst="rect">
            <a:avLst/>
          </a:prstGeom>
        </p:spPr>
      </p:pic>
      <p:sp>
        <p:nvSpPr>
          <p:cNvPr id="8" name="Shape 5"/>
          <p:cNvSpPr/>
          <p:nvPr/>
        </p:nvSpPr>
        <p:spPr>
          <a:xfrm>
            <a:off x="8183880" y="1371600"/>
            <a:ext cx="3502152" cy="4983480"/>
          </a:xfrm>
          <a:prstGeom prst="roundRect">
            <a:avLst>
              <a:gd name="adj" fmla="val 1567"/>
            </a:avLst>
          </a:prstGeom>
          <a:solidFill>
            <a:srgbClr val="FFFFFF"/>
          </a:solidFill>
          <a:ln w="9525">
            <a:solidFill>
              <a:srgbClr val="DDDEDE"/>
            </a:solidFill>
            <a:prstDash val="solid"/>
          </a:ln>
        </p:spPr>
      </p:sp>
      <p:sp>
        <p:nvSpPr>
          <p:cNvPr id="9" name="Text 6"/>
          <p:cNvSpPr txBox="1"/>
          <p:nvPr/>
        </p:nvSpPr>
        <p:spPr>
          <a:xfrm>
            <a:off x="8366760" y="1499616"/>
            <a:ext cx="313639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PAIN POINTS</a:t>
            </a:r>
            <a:endParaRPr lang="en-US" sz="950" dirty="0"/>
          </a:p>
        </p:txBody>
      </p:sp>
      <p:sp>
        <p:nvSpPr>
          <p:cNvPr id="10" name="Text 7"/>
          <p:cNvSpPr txBox="1"/>
          <p:nvPr/>
        </p:nvSpPr>
        <p:spPr>
          <a:xfrm>
            <a:off x="8366760" y="1828800"/>
            <a:ext cx="3154680" cy="438912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2.3.1 จับคู่ Order กับสต๊อกเอง ~5 นาที/ออเดอร์</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2.3.2 คำนวณความคุ้มค่าเอง 20–30 นาที/ครั้ง</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2.3.3 จัดรูปแบบใบปะเอง ~3 นาที/ออเดอร์</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2.3.4 ติดตามพัสดุและแจ้งลูกค้าเอง ~2 นาที/ออเดอร์</a:t>
            </a:r>
            <a:endParaRPr lang="en-US" sz="13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Business process: To-Be</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ขั้นตอนใหม่ แยกงานระบบกับงานคน</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02 BUSINESS PROCESS</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676656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640080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TO-BE</a:t>
            </a:r>
            <a:endParaRPr lang="en-US" sz="950" dirty="0"/>
          </a:p>
        </p:txBody>
      </p:sp>
      <p:pic>
        <p:nvPicPr>
          <p:cNvPr id="7" name="Image 0" descr="/Users/xbpkdi/xbpkdi_kucs/321-sa-proj/02-chapter2-business-process/img/final/2.4-business-process-to-be.png">    </p:cNvPr>
          <p:cNvPicPr>
            <a:picLocks noChangeAspect="1"/>
          </p:cNvPicPr>
          <p:nvPr/>
        </p:nvPicPr>
        <p:blipFill>
          <a:blip r:embed="rId1"/>
          <a:stretch>
            <a:fillRect/>
          </a:stretch>
        </p:blipFill>
        <p:spPr>
          <a:xfrm>
            <a:off x="1892477" y="1828800"/>
            <a:ext cx="3987446" cy="4389120"/>
          </a:xfrm>
          <a:prstGeom prst="rect">
            <a:avLst/>
          </a:prstGeom>
        </p:spPr>
      </p:pic>
      <p:sp>
        <p:nvSpPr>
          <p:cNvPr id="8" name="Shape 5"/>
          <p:cNvSpPr/>
          <p:nvPr/>
        </p:nvSpPr>
        <p:spPr>
          <a:xfrm>
            <a:off x="7452360" y="1371600"/>
            <a:ext cx="4233672" cy="4983480"/>
          </a:xfrm>
          <a:prstGeom prst="roundRect">
            <a:avLst>
              <a:gd name="adj" fmla="val 1296"/>
            </a:avLst>
          </a:prstGeom>
          <a:solidFill>
            <a:srgbClr val="FFFFFF"/>
          </a:solidFill>
          <a:ln w="9525">
            <a:solidFill>
              <a:srgbClr val="DDDEDE"/>
            </a:solidFill>
            <a:prstDash val="solid"/>
          </a:ln>
        </p:spPr>
      </p:sp>
      <p:sp>
        <p:nvSpPr>
          <p:cNvPr id="9" name="Text 6"/>
          <p:cNvSpPr txBox="1"/>
          <p:nvPr/>
        </p:nvSpPr>
        <p:spPr>
          <a:xfrm>
            <a:off x="7635240" y="1499616"/>
            <a:ext cx="386791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WHAT CHANGED</a:t>
            </a:r>
            <a:endParaRPr lang="en-US" sz="950" dirty="0"/>
          </a:p>
        </p:txBody>
      </p:sp>
      <p:sp>
        <p:nvSpPr>
          <p:cNvPr id="10" name="Text 7"/>
          <p:cNvSpPr txBox="1"/>
          <p:nvPr/>
        </p:nvSpPr>
        <p:spPr>
          <a:xfrm>
            <a:off x="7635240" y="1828800"/>
            <a:ext cx="3886200" cy="438912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ระบบทำงานอัตโนมัติ 7 Use Case (1S–7S)</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ระบบเช็กสต๊อก จับคู่ RSL จัดรูปแบบใบปะ แจ้งเลขติดตาม ตัดสต๊อกเอง</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คนยังทำงานที่ต้องตัดสินใจ: ตรวจคำสั่งซื้อ อนุมัติการสั่งซื้อ พิมพ์ใบปะ ส่งมอบพัสดุ</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เพิ่ม 10A ลบข้อมูลเก่าตามคำแนะนำของอาจารย์</a:t>
            </a:r>
            <a:endParaRPr lang="en-US" sz="13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Use case diagram</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17 Use Case หลังทบทวน</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02 USE CASE</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566928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530352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TO-BE USE CASE</a:t>
            </a:r>
            <a:endParaRPr lang="en-US" sz="950" dirty="0"/>
          </a:p>
        </p:txBody>
      </p:sp>
      <p:pic>
        <p:nvPicPr>
          <p:cNvPr id="7" name="Image 0" descr="/Users/xbpkdi/xbpkdi_kucs/321-sa-proj/02-chapter2-business-process/img/final/2.11-use-case-diagram-to-be.png">    </p:cNvPr>
          <p:cNvPicPr>
            <a:picLocks noChangeAspect="1"/>
          </p:cNvPicPr>
          <p:nvPr/>
        </p:nvPicPr>
        <p:blipFill>
          <a:blip r:embed="rId1"/>
          <a:stretch>
            <a:fillRect/>
          </a:stretch>
        </p:blipFill>
        <p:spPr>
          <a:xfrm>
            <a:off x="1539068" y="1828800"/>
            <a:ext cx="3596984" cy="4389120"/>
          </a:xfrm>
          <a:prstGeom prst="rect">
            <a:avLst/>
          </a:prstGeom>
        </p:spPr>
      </p:pic>
      <p:sp>
        <p:nvSpPr>
          <p:cNvPr id="8" name="Shape 5"/>
          <p:cNvSpPr/>
          <p:nvPr/>
        </p:nvSpPr>
        <p:spPr>
          <a:xfrm>
            <a:off x="6355080" y="1371600"/>
            <a:ext cx="5330952" cy="4983480"/>
          </a:xfrm>
          <a:prstGeom prst="roundRect">
            <a:avLst>
              <a:gd name="adj" fmla="val 1101"/>
            </a:avLst>
          </a:prstGeom>
          <a:solidFill>
            <a:srgbClr val="FFFFFF"/>
          </a:solidFill>
          <a:ln w="9525">
            <a:solidFill>
              <a:srgbClr val="DDDEDE"/>
            </a:solidFill>
            <a:prstDash val="solid"/>
          </a:ln>
        </p:spPr>
      </p:sp>
      <p:sp>
        <p:nvSpPr>
          <p:cNvPr id="9" name="Text 6"/>
          <p:cNvSpPr txBox="1"/>
          <p:nvPr/>
        </p:nvSpPr>
        <p:spPr>
          <a:xfrm>
            <a:off x="6537960" y="1499616"/>
            <a:ext cx="496519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USE CASES</a:t>
            </a:r>
            <a:endParaRPr lang="en-US" sz="950" dirty="0"/>
          </a:p>
        </p:txBody>
      </p:sp>
      <p:sp>
        <p:nvSpPr>
          <p:cNvPr id="10" name="Text 7"/>
          <p:cNvSpPr txBox="1"/>
          <p:nvPr/>
        </p:nvSpPr>
        <p:spPr>
          <a:xfrm>
            <a:off x="6537960" y="1783080"/>
            <a:ext cx="2560320" cy="274320"/>
          </a:xfrm>
          <a:prstGeom prst="rect">
            <a:avLst/>
          </a:prstGeom>
          <a:noFill/>
          <a:ln/>
        </p:spPr>
        <p:txBody>
          <a:bodyPr wrap="square" lIns="0" tIns="0" rIns="0" bIns="0" rtlCol="0" anchor="t"/>
          <a:lstStyle/>
          <a:p>
            <a:pPr indent="0" marL="0">
              <a:buNone/>
            </a:pPr>
            <a:r>
              <a:rPr lang="en-US" sz="1200" b="1" dirty="0">
                <a:solidFill>
                  <a:srgbClr val="1868DB"/>
                </a:solidFill>
                <a:latin typeface="Sukhumvit Set" pitchFamily="34" charset="0"/>
                <a:ea typeface="Sukhumvit Set" pitchFamily="34" charset="-122"/>
                <a:cs typeface="Sukhumvit Set" pitchFamily="34" charset="-120"/>
              </a:rPr>
              <a:t>Admin (10)</a:t>
            </a:r>
            <a:endParaRPr lang="en-US" sz="1200" dirty="0"/>
          </a:p>
        </p:txBody>
      </p:sp>
      <p:sp>
        <p:nvSpPr>
          <p:cNvPr id="11" name="Text 8"/>
          <p:cNvSpPr txBox="1"/>
          <p:nvPr/>
        </p:nvSpPr>
        <p:spPr>
          <a:xfrm>
            <a:off x="6537960" y="2103120"/>
            <a:ext cx="2560320" cy="4114800"/>
          </a:xfrm>
          <a:prstGeom prst="rect">
            <a:avLst/>
          </a:prstGeom>
          <a:noFill/>
          <a:ln/>
        </p:spPr>
        <p:txBody>
          <a:bodyPr wrap="square" lIns="0" tIns="0" rIns="0" bIns="0" rtlCol="0" anchor="t"/>
          <a:lstStyle/>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1A เข้าสู่ระบบ</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2A ตรวจสอบคำสั่งซื้อ</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3A ตั้งกฎ SKU</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4A ดึง Order เข้าระบบ</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5A ตัดสินใจการสั่งซื้อสินค้าเพิ่มเข้า stock</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6A สั่งซื้อสินค้าเพิ่มเข้า stock จาก supplier</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7A ยกเลิก Order</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8A จัดส่งสินค้าให้ลูกค้าผ่าน Delivery</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9A พิมพ์ใบปะสินค้า</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10A ลบข้อมูลเก่าที่ไม่ใช้แล้ว (Order เก่าที่เสร็จสิ้น / Cost / Label / Reorder)</a:t>
            </a:r>
            <a:endParaRPr lang="en-US" sz="1050" dirty="0"/>
          </a:p>
        </p:txBody>
      </p:sp>
      <p:sp>
        <p:nvSpPr>
          <p:cNvPr id="12" name="Text 9"/>
          <p:cNvSpPr txBox="1"/>
          <p:nvPr/>
        </p:nvSpPr>
        <p:spPr>
          <a:xfrm>
            <a:off x="9189720" y="1783080"/>
            <a:ext cx="2377440" cy="274320"/>
          </a:xfrm>
          <a:prstGeom prst="rect">
            <a:avLst/>
          </a:prstGeom>
          <a:noFill/>
          <a:ln/>
        </p:spPr>
        <p:txBody>
          <a:bodyPr wrap="square" lIns="0" tIns="0" rIns="0" bIns="0" rtlCol="0" anchor="t"/>
          <a:lstStyle/>
          <a:p>
            <a:pPr indent="0" marL="0">
              <a:buNone/>
            </a:pPr>
            <a:r>
              <a:rPr lang="en-US" sz="1200" b="1" dirty="0">
                <a:solidFill>
                  <a:srgbClr val="FF5A36"/>
                </a:solidFill>
                <a:latin typeface="Sukhumvit Set" pitchFamily="34" charset="0"/>
                <a:ea typeface="Sukhumvit Set" pitchFamily="34" charset="-122"/>
                <a:cs typeface="Sukhumvit Set" pitchFamily="34" charset="-120"/>
              </a:rPr>
              <a:t>System (7)</a:t>
            </a:r>
            <a:endParaRPr lang="en-US" sz="1200" dirty="0"/>
          </a:p>
        </p:txBody>
      </p:sp>
      <p:sp>
        <p:nvSpPr>
          <p:cNvPr id="13" name="Text 10"/>
          <p:cNvSpPr txBox="1"/>
          <p:nvPr/>
        </p:nvSpPr>
        <p:spPr>
          <a:xfrm>
            <a:off x="9189720" y="2103120"/>
            <a:ext cx="2377440" cy="4114800"/>
          </a:xfrm>
          <a:prstGeom prst="rect">
            <a:avLst/>
          </a:prstGeom>
          <a:noFill/>
          <a:ln/>
        </p:spPr>
        <p:txBody>
          <a:bodyPr wrap="square" lIns="0" tIns="0" rIns="0" bIns="0" rtlCol="0" anchor="t"/>
          <a:lstStyle/>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1S จับคู่ Order กับเลข RSL</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2S จับคู่กฎ SKU</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3S ตรวจสอบของสินค้าใน stock + RSL</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4S คำนวณ Cost ในการสั่งสินค้าเติม stock เอง</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5S ส่งเลขติดตามสินค้าของ Delivery ให้ลูกค้าผ่าน Marketplace</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6S จัดรูปแบบใบปะสินค้า</a:t>
            </a:r>
            <a:endParaRPr lang="en-US" sz="1050" dirty="0"/>
          </a:p>
          <a:p>
            <a:pPr indent="0" marL="0">
              <a:lnSpc>
                <a:spcPct val="110000"/>
              </a:lnSpc>
              <a:buNone/>
            </a:pPr>
            <a:r>
              <a:rPr lang="en-US" sz="1050" dirty="0">
                <a:solidFill>
                  <a:srgbClr val="292A2E"/>
                </a:solidFill>
                <a:latin typeface="Sukhumvit Set" pitchFamily="34" charset="0"/>
                <a:ea typeface="Sukhumvit Set" pitchFamily="34" charset="-122"/>
                <a:cs typeface="Sukhumvit Set" pitchFamily="34" charset="-120"/>
              </a:rPr>
              <a:t>7S ตัดสต๊อกสินค้า</a:t>
            </a:r>
            <a:endParaRPr lang="en-US" sz="105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Use case 5A: decide to reorder</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ตัวอย่าง Use Case Description + Sequence</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03 DESIGN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603504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56692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SEQUENCE DIAGRAM 5A</a:t>
            </a:r>
            <a:endParaRPr lang="en-US" sz="950" dirty="0"/>
          </a:p>
        </p:txBody>
      </p:sp>
      <p:pic>
        <p:nvPicPr>
          <p:cNvPr id="7" name="Image 0" descr="/Users/xbpkdi/xbpkdi_kucs/321-sa-proj/03-chapter2-use-case-descriptions/diagrams/png/5A-sequence.png">    </p:cNvPr>
          <p:cNvPicPr>
            <a:picLocks noChangeAspect="1"/>
          </p:cNvPicPr>
          <p:nvPr/>
        </p:nvPicPr>
        <p:blipFill>
          <a:blip r:embed="rId1"/>
          <a:stretch>
            <a:fillRect/>
          </a:stretch>
        </p:blipFill>
        <p:spPr>
          <a:xfrm>
            <a:off x="1823789" y="1828800"/>
            <a:ext cx="3393303" cy="4389120"/>
          </a:xfrm>
          <a:prstGeom prst="rect">
            <a:avLst/>
          </a:prstGeom>
        </p:spPr>
      </p:pic>
      <p:sp>
        <p:nvSpPr>
          <p:cNvPr id="8" name="Shape 5"/>
          <p:cNvSpPr/>
          <p:nvPr/>
        </p:nvSpPr>
        <p:spPr>
          <a:xfrm>
            <a:off x="6720840" y="1371600"/>
            <a:ext cx="4965192" cy="4983480"/>
          </a:xfrm>
          <a:prstGeom prst="roundRect">
            <a:avLst>
              <a:gd name="adj" fmla="val 1105"/>
            </a:avLst>
          </a:prstGeom>
          <a:solidFill>
            <a:srgbClr val="FFFFFF"/>
          </a:solidFill>
          <a:ln w="9525">
            <a:solidFill>
              <a:srgbClr val="DDDEDE"/>
            </a:solidFill>
            <a:prstDash val="solid"/>
          </a:ln>
        </p:spPr>
      </p:sp>
      <p:sp>
        <p:nvSpPr>
          <p:cNvPr id="9" name="Text 6"/>
          <p:cNvSpPr txBox="1"/>
          <p:nvPr/>
        </p:nvSpPr>
        <p:spPr>
          <a:xfrm>
            <a:off x="6903720" y="1499616"/>
            <a:ext cx="459943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HUMAN-IN-THE-LOOP</a:t>
            </a:r>
            <a:endParaRPr lang="en-US" sz="950" dirty="0"/>
          </a:p>
        </p:txBody>
      </p:sp>
      <p:sp>
        <p:nvSpPr>
          <p:cNvPr id="10" name="Text 7"/>
          <p:cNvSpPr txBox="1"/>
          <p:nvPr/>
        </p:nvSpPr>
        <p:spPr>
          <a:xfrm>
            <a:off x="6903720" y="1828800"/>
            <a:ext cx="4617720" cy="438912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Goal: ให้ Admin ตัดสินใจจากต้นทุนที่คำนวณได้ว่าคุ้มค่าที่จะสั่งสินค้าเพิ่มเข้าสต๊อกหรือไม่</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Q5A.1–Q5A.2 ดึงต้นทุนต่อหน่วยล่าสุดและราคาขาย</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Q5A.3 Expected Margin = selling_price − unit_cost</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คุ้มค่า → Q5A.4 ส่งต่อ 6A สั่งซื้อ</a:t>
            </a:r>
            <a:endParaRPr lang="en-US" sz="1300" dirty="0"/>
          </a:p>
          <a:p>
            <a:pPr marL="203200" indent="-203200">
              <a:lnSpc>
                <a:spcPct val="105000"/>
              </a:lnSpc>
              <a:spcAft>
                <a:spcPts val="600"/>
              </a:spcAft>
              <a:buSzPct val="100000"/>
              <a:buChar char="•"/>
            </a:pPr>
            <a:r>
              <a:rPr lang="en-US" sz="1300" dirty="0">
                <a:solidFill>
                  <a:srgbClr val="292A2E"/>
                </a:solidFill>
                <a:latin typeface="Sukhumvit Set" pitchFamily="34" charset="0"/>
                <a:ea typeface="Sukhumvit Set" pitchFamily="34" charset="-122"/>
                <a:cs typeface="Sukhumvit Set" pitchFamily="34" charset="-120"/>
              </a:rPr>
              <a:t>ไม่คุ้มค่า → Q5A.5 ส่งต่อ 7A ยกเลิก</a:t>
            </a:r>
            <a:endParaRPr lang="en-US" sz="13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Class diagram</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Screen → Controller → Repository → DBConnector</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03 DESIGN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11183112"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1081735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คำนวณต้นทุน (6/15)</a:t>
            </a:r>
            <a:endParaRPr lang="en-US" sz="950" dirty="0"/>
          </a:p>
        </p:txBody>
      </p:sp>
      <p:pic>
        <p:nvPicPr>
          <p:cNvPr id="7" name="Image 0" descr="/Users/xbpkdi/xbpkdi_kucs/321-sa-proj/04-chapter2-diagrams-database/diagrams/png/class-6.png">    </p:cNvPr>
          <p:cNvPicPr>
            <a:picLocks noChangeAspect="1"/>
          </p:cNvPicPr>
          <p:nvPr/>
        </p:nvPicPr>
        <p:blipFill>
          <a:blip r:embed="rId1"/>
          <a:stretch>
            <a:fillRect/>
          </a:stretch>
        </p:blipFill>
        <p:spPr>
          <a:xfrm>
            <a:off x="640080" y="2490084"/>
            <a:ext cx="10908792" cy="3066552"/>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State diagram: Order</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สถานะ Order และ SQL ที่เปลี่ยนสถานะ</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03 DESIGN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4206240" cy="4983480"/>
          </a:xfrm>
          <a:prstGeom prst="roundRect">
            <a:avLst>
              <a:gd name="adj" fmla="val 1304"/>
            </a:avLst>
          </a:prstGeom>
          <a:solidFill>
            <a:srgbClr val="FFFFFF"/>
          </a:solidFill>
          <a:ln w="9525">
            <a:solidFill>
              <a:srgbClr val="DDDEDE"/>
            </a:solidFill>
            <a:prstDash val="solid"/>
          </a:ln>
        </p:spPr>
      </p:sp>
      <p:pic>
        <p:nvPicPr>
          <p:cNvPr id="6" name="Image 0" descr="/Users/xbpkdi/xbpkdi_kucs/321-sa-proj/04-chapter2-diagrams-database/diagrams/png/state.png">    </p:cNvPr>
          <p:cNvPicPr>
            <a:picLocks noChangeAspect="1"/>
          </p:cNvPicPr>
          <p:nvPr/>
        </p:nvPicPr>
        <p:blipFill>
          <a:blip r:embed="rId1"/>
          <a:stretch>
            <a:fillRect/>
          </a:stretch>
        </p:blipFill>
        <p:spPr>
          <a:xfrm>
            <a:off x="1783524" y="1508760"/>
            <a:ext cx="1645032" cy="4709160"/>
          </a:xfrm>
          <a:prstGeom prst="rect">
            <a:avLst/>
          </a:prstGeom>
        </p:spPr>
      </p:pic>
      <p:sp>
        <p:nvSpPr>
          <p:cNvPr id="7" name="Shape 4"/>
          <p:cNvSpPr/>
          <p:nvPr/>
        </p:nvSpPr>
        <p:spPr>
          <a:xfrm>
            <a:off x="4892040" y="1371600"/>
            <a:ext cx="6793992" cy="4983480"/>
          </a:xfrm>
          <a:prstGeom prst="roundRect">
            <a:avLst>
              <a:gd name="adj" fmla="val 1101"/>
            </a:avLst>
          </a:prstGeom>
          <a:solidFill>
            <a:srgbClr val="FFFFFF"/>
          </a:solidFill>
          <a:ln w="9525">
            <a:solidFill>
              <a:srgbClr val="DDDEDE"/>
            </a:solidFill>
            <a:prstDash val="solid"/>
          </a:ln>
        </p:spPr>
      </p:sp>
      <p:sp>
        <p:nvSpPr>
          <p:cNvPr id="8" name="Text 5"/>
          <p:cNvSpPr txBox="1"/>
          <p:nvPr/>
        </p:nvSpPr>
        <p:spPr>
          <a:xfrm>
            <a:off x="5074920" y="1499616"/>
            <a:ext cx="642823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HOW TO READ</a:t>
            </a:r>
            <a:endParaRPr lang="en-US" sz="950" dirty="0"/>
          </a:p>
        </p:txBody>
      </p:sp>
      <p:sp>
        <p:nvSpPr>
          <p:cNvPr id="9" name="Text 6"/>
          <p:cNvSpPr txBox="1"/>
          <p:nvPr/>
        </p:nvSpPr>
        <p:spPr>
          <a:xfrm>
            <a:off x="5074920" y="1828800"/>
            <a:ext cx="6400800" cy="4389120"/>
          </a:xfrm>
          <a:prstGeom prst="rect">
            <a:avLst/>
          </a:prstGeom>
          <a:noFill/>
          <a:ln/>
        </p:spPr>
        <p:txBody>
          <a:bodyPr wrap="square" lIns="0" tIns="0" rIns="0" bIns="0" rtlCol="0" anchor="t"/>
          <a:lstStyle/>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ทุกเส้นเขียนเป็น [เงื่อนไข] event / Use Case</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ทุกครั้งที่สถานะเปลี่ยน ระบบ UPDATE orders.order_status ตามเลข query บนเส้น</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เส้นทางหลัก: 4A → 2A → 2S → 3S → 1S → 6S → 9A → 8A → 5S → 7S</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สต๊อกไม่พอ: 3S → 5A → 6A หรือ 7A</a:t>
            </a:r>
            <a:endParaRPr lang="en-US" sz="1400" dirty="0"/>
          </a:p>
          <a:p>
            <a:pPr marL="203200" indent="-203200">
              <a:lnSpc>
                <a:spcPct val="105000"/>
              </a:lnSpc>
              <a:spcAft>
                <a:spcPts val="600"/>
              </a:spcAft>
              <a:buSzPct val="100000"/>
              <a:buChar char="•"/>
            </a:pPr>
            <a:r>
              <a:rPr lang="en-US" sz="1400" dirty="0">
                <a:solidFill>
                  <a:srgbClr val="292A2E"/>
                </a:solidFill>
                <a:latin typeface="Sukhumvit Set" pitchFamily="34" charset="0"/>
                <a:ea typeface="Sukhumvit Set" pitchFamily="34" charset="-122"/>
                <a:cs typeface="Sukhumvit Set" pitchFamily="34" charset="-120"/>
              </a:rPr>
              <a:t>Order ที่ปิดแล้วเก่ากว่า 12 เดือนถูกลบด้วย 10A</a:t>
            </a:r>
            <a:endParaRPr lang="en-US" sz="14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ER diagram</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15 entity, ไม่มี M:N</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03 DESIGN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512064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47548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OVERVIEW</a:t>
            </a:r>
            <a:endParaRPr lang="en-US" sz="950" dirty="0"/>
          </a:p>
        </p:txBody>
      </p:sp>
      <p:pic>
        <p:nvPicPr>
          <p:cNvPr id="7" name="Image 0" descr="/Users/xbpkdi/xbpkdi_kucs/321-sa-proj/04-chapter2-diagrams-database/diagrams/png/er-0.png">    </p:cNvPr>
          <p:cNvPicPr>
            <a:picLocks noChangeAspect="1"/>
          </p:cNvPicPr>
          <p:nvPr/>
        </p:nvPicPr>
        <p:blipFill>
          <a:blip r:embed="rId1"/>
          <a:stretch>
            <a:fillRect/>
          </a:stretch>
        </p:blipFill>
        <p:spPr>
          <a:xfrm>
            <a:off x="1231283" y="1828800"/>
            <a:ext cx="3663914" cy="4389120"/>
          </a:xfrm>
          <a:prstGeom prst="rect">
            <a:avLst/>
          </a:prstGeom>
        </p:spPr>
      </p:pic>
      <p:sp>
        <p:nvSpPr>
          <p:cNvPr id="8" name="Shape 5"/>
          <p:cNvSpPr/>
          <p:nvPr/>
        </p:nvSpPr>
        <p:spPr>
          <a:xfrm>
            <a:off x="5760720" y="1371600"/>
            <a:ext cx="5925312" cy="4983480"/>
          </a:xfrm>
          <a:prstGeom prst="roundRect">
            <a:avLst>
              <a:gd name="adj" fmla="val 1101"/>
            </a:avLst>
          </a:prstGeom>
          <a:solidFill>
            <a:srgbClr val="FFFFFF"/>
          </a:solidFill>
          <a:ln w="9525">
            <a:solidFill>
              <a:srgbClr val="DDDEDE"/>
            </a:solidFill>
            <a:prstDash val="solid"/>
          </a:ln>
        </p:spPr>
      </p:sp>
      <p:sp>
        <p:nvSpPr>
          <p:cNvPr id="9" name="Text 6"/>
          <p:cNvSpPr txBox="1"/>
          <p:nvPr/>
        </p:nvSpPr>
        <p:spPr>
          <a:xfrm>
            <a:off x="5943600" y="1499616"/>
            <a:ext cx="555955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ER + QUERY (PRODUCTS)</a:t>
            </a:r>
            <a:endParaRPr lang="en-US" sz="950" dirty="0"/>
          </a:p>
        </p:txBody>
      </p:sp>
      <p:pic>
        <p:nvPicPr>
          <p:cNvPr id="10" name="Image 1" descr="/Users/xbpkdi/xbpkdi_kucs/321-sa-proj/04-chapter2-diagrams-database/diagrams/png/er-query-3.png">    </p:cNvPr>
          <p:cNvPicPr>
            <a:picLocks noChangeAspect="1"/>
          </p:cNvPicPr>
          <p:nvPr/>
        </p:nvPicPr>
        <p:blipFill>
          <a:blip r:embed="rId2"/>
          <a:stretch>
            <a:fillRect/>
          </a:stretch>
        </p:blipFill>
        <p:spPr>
          <a:xfrm>
            <a:off x="6207900" y="1828800"/>
            <a:ext cx="5030952" cy="4389120"/>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Data flow diagram</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Context และ Level 0</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03 DESIGN</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4023360" cy="4983480"/>
          </a:xfrm>
          <a:prstGeom prst="roundRect">
            <a:avLst>
              <a:gd name="adj" fmla="val 1364"/>
            </a:avLst>
          </a:prstGeom>
          <a:solidFill>
            <a:srgbClr val="FFFFFF"/>
          </a:solidFill>
          <a:ln w="9525">
            <a:solidFill>
              <a:srgbClr val="DDDEDE"/>
            </a:solidFill>
            <a:prstDash val="solid"/>
          </a:ln>
        </p:spPr>
      </p:sp>
      <p:sp>
        <p:nvSpPr>
          <p:cNvPr id="6" name="Text 4"/>
          <p:cNvSpPr txBox="1"/>
          <p:nvPr/>
        </p:nvSpPr>
        <p:spPr>
          <a:xfrm>
            <a:off x="685800" y="1499616"/>
            <a:ext cx="365760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CONTEXT</a:t>
            </a:r>
            <a:endParaRPr lang="en-US" sz="950" dirty="0"/>
          </a:p>
        </p:txBody>
      </p:sp>
      <p:pic>
        <p:nvPicPr>
          <p:cNvPr id="7" name="Image 0" descr="/Users/xbpkdi/xbpkdi_kucs/321-sa-proj/04-chapter2-diagrams-database/diagrams/png/dfd-context.png">    </p:cNvPr>
          <p:cNvPicPr>
            <a:picLocks noChangeAspect="1"/>
          </p:cNvPicPr>
          <p:nvPr/>
        </p:nvPicPr>
        <p:blipFill>
          <a:blip r:embed="rId1"/>
          <a:stretch>
            <a:fillRect/>
          </a:stretch>
        </p:blipFill>
        <p:spPr>
          <a:xfrm>
            <a:off x="640080" y="3237612"/>
            <a:ext cx="3749040" cy="1571496"/>
          </a:xfrm>
          <a:prstGeom prst="rect">
            <a:avLst/>
          </a:prstGeom>
        </p:spPr>
      </p:pic>
      <p:sp>
        <p:nvSpPr>
          <p:cNvPr id="8" name="Shape 5"/>
          <p:cNvSpPr/>
          <p:nvPr/>
        </p:nvSpPr>
        <p:spPr>
          <a:xfrm>
            <a:off x="4663440" y="1371600"/>
            <a:ext cx="7022592" cy="4983480"/>
          </a:xfrm>
          <a:prstGeom prst="roundRect">
            <a:avLst>
              <a:gd name="adj" fmla="val 1101"/>
            </a:avLst>
          </a:prstGeom>
          <a:solidFill>
            <a:srgbClr val="FFFFFF"/>
          </a:solidFill>
          <a:ln w="9525">
            <a:solidFill>
              <a:srgbClr val="DDDEDE"/>
            </a:solidFill>
            <a:prstDash val="solid"/>
          </a:ln>
        </p:spPr>
      </p:sp>
      <p:sp>
        <p:nvSpPr>
          <p:cNvPr id="9" name="Text 6"/>
          <p:cNvSpPr txBox="1"/>
          <p:nvPr/>
        </p:nvSpPr>
        <p:spPr>
          <a:xfrm>
            <a:off x="4846320" y="1499616"/>
            <a:ext cx="665683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LEVEL 0</a:t>
            </a:r>
            <a:endParaRPr lang="en-US" sz="950" dirty="0"/>
          </a:p>
        </p:txBody>
      </p:sp>
      <p:pic>
        <p:nvPicPr>
          <p:cNvPr id="10" name="Image 1" descr="/Users/xbpkdi/xbpkdi_kucs/321-sa-proj/04-chapter2-diagrams-database/diagrams/png/dfd-level0.png">    </p:cNvPr>
          <p:cNvPicPr>
            <a:picLocks noChangeAspect="1"/>
          </p:cNvPicPr>
          <p:nvPr/>
        </p:nvPicPr>
        <p:blipFill>
          <a:blip r:embed="rId2"/>
          <a:stretch>
            <a:fillRect/>
          </a:stretch>
        </p:blipFill>
        <p:spPr>
          <a:xfrm>
            <a:off x="5180539" y="1828800"/>
            <a:ext cx="5988394" cy="4389120"/>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Platform and components</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เครื่องมือที่ใช้และการรวม component</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04 BUILD</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4754880" cy="4983480"/>
          </a:xfrm>
          <a:prstGeom prst="roundRect">
            <a:avLst>
              <a:gd name="adj" fmla="val 1154"/>
            </a:avLst>
          </a:prstGeom>
          <a:solidFill>
            <a:srgbClr val="FFFFFF"/>
          </a:solidFill>
          <a:ln w="9525">
            <a:solidFill>
              <a:srgbClr val="DDDEDE"/>
            </a:solidFill>
            <a:prstDash val="solid"/>
          </a:ln>
        </p:spPr>
      </p:sp>
      <p:sp>
        <p:nvSpPr>
          <p:cNvPr id="6" name="Text 4"/>
          <p:cNvSpPr txBox="1"/>
          <p:nvPr/>
        </p:nvSpPr>
        <p:spPr>
          <a:xfrm>
            <a:off x="685800" y="1499616"/>
            <a:ext cx="438912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STACK OF TOOLS</a:t>
            </a:r>
            <a:endParaRPr lang="en-US" sz="950" dirty="0"/>
          </a:p>
        </p:txBody>
      </p:sp>
      <p:pic>
        <p:nvPicPr>
          <p:cNvPr id="7" name="Image 0" descr="/Users/xbpkdi/xbpkdi_kucs/321-sa-proj/05-chapter2-platform-testing/img/2.22-software-platform.png">    </p:cNvPr>
          <p:cNvPicPr>
            <a:picLocks noChangeAspect="1"/>
          </p:cNvPicPr>
          <p:nvPr/>
        </p:nvPicPr>
        <p:blipFill>
          <a:blip r:embed="rId1"/>
          <a:stretch>
            <a:fillRect/>
          </a:stretch>
        </p:blipFill>
        <p:spPr>
          <a:xfrm>
            <a:off x="640080" y="2604516"/>
            <a:ext cx="4480560" cy="2837688"/>
          </a:xfrm>
          <a:prstGeom prst="rect">
            <a:avLst/>
          </a:prstGeom>
        </p:spPr>
      </p:pic>
      <p:sp>
        <p:nvSpPr>
          <p:cNvPr id="8" name="Shape 5"/>
          <p:cNvSpPr/>
          <p:nvPr/>
        </p:nvSpPr>
        <p:spPr>
          <a:xfrm>
            <a:off x="5394960" y="1371600"/>
            <a:ext cx="6291072" cy="4983480"/>
          </a:xfrm>
          <a:prstGeom prst="roundRect">
            <a:avLst>
              <a:gd name="adj" fmla="val 1101"/>
            </a:avLst>
          </a:prstGeom>
          <a:solidFill>
            <a:srgbClr val="FFFFFF"/>
          </a:solidFill>
          <a:ln w="9525">
            <a:solidFill>
              <a:srgbClr val="DDDEDE"/>
            </a:solidFill>
            <a:prstDash val="solid"/>
          </a:ln>
        </p:spPr>
      </p:sp>
      <p:sp>
        <p:nvSpPr>
          <p:cNvPr id="9" name="Text 6"/>
          <p:cNvSpPr txBox="1"/>
          <p:nvPr/>
        </p:nvSpPr>
        <p:spPr>
          <a:xfrm>
            <a:off x="5577840" y="1499616"/>
            <a:ext cx="592531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COMPONENT DIAGRAM</a:t>
            </a:r>
            <a:endParaRPr lang="en-US" sz="950" dirty="0"/>
          </a:p>
        </p:txBody>
      </p:sp>
      <p:pic>
        <p:nvPicPr>
          <p:cNvPr id="10" name="Image 1" descr="/Users/xbpkdi/xbpkdi_kucs/321-sa-proj/04-chapter2-diagrams-database/diagrams/png/component.png">    </p:cNvPr>
          <p:cNvPicPr>
            <a:picLocks noChangeAspect="1"/>
          </p:cNvPicPr>
          <p:nvPr/>
        </p:nvPicPr>
        <p:blipFill>
          <a:blip r:embed="rId2"/>
          <a:stretch>
            <a:fillRect/>
          </a:stretch>
        </p:blipFill>
        <p:spPr>
          <a:xfrm>
            <a:off x="6694031" y="1828800"/>
            <a:ext cx="3692930" cy="4389120"/>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Site map and screens</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12 หน้าจอ ชื่อตาม Use Case</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04 BUILD</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4297680" cy="4983480"/>
          </a:xfrm>
          <a:prstGeom prst="roundRect">
            <a:avLst>
              <a:gd name="adj" fmla="val 1277"/>
            </a:avLst>
          </a:prstGeom>
          <a:solidFill>
            <a:srgbClr val="FFFFFF"/>
          </a:solidFill>
          <a:ln w="9525">
            <a:solidFill>
              <a:srgbClr val="DDDEDE"/>
            </a:solidFill>
            <a:prstDash val="solid"/>
          </a:ln>
        </p:spPr>
      </p:sp>
      <p:sp>
        <p:nvSpPr>
          <p:cNvPr id="6" name="Text 4"/>
          <p:cNvSpPr txBox="1"/>
          <p:nvPr/>
        </p:nvSpPr>
        <p:spPr>
          <a:xfrm>
            <a:off x="685800" y="1499616"/>
            <a:ext cx="393192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SITE MAP</a:t>
            </a:r>
            <a:endParaRPr lang="en-US" sz="950" dirty="0"/>
          </a:p>
        </p:txBody>
      </p:sp>
      <p:pic>
        <p:nvPicPr>
          <p:cNvPr id="7" name="Image 0" descr="/Users/xbpkdi/xbpkdi_kucs/321-sa-proj/05-chapter2-platform-testing/img/sitemap.png">    </p:cNvPr>
          <p:cNvPicPr>
            <a:picLocks noChangeAspect="1"/>
          </p:cNvPicPr>
          <p:nvPr/>
        </p:nvPicPr>
        <p:blipFill>
          <a:blip r:embed="rId1"/>
          <a:stretch>
            <a:fillRect/>
          </a:stretch>
        </p:blipFill>
        <p:spPr>
          <a:xfrm>
            <a:off x="640080" y="2367915"/>
            <a:ext cx="4023360" cy="3310890"/>
          </a:xfrm>
          <a:prstGeom prst="rect">
            <a:avLst/>
          </a:prstGeom>
        </p:spPr>
      </p:pic>
      <p:sp>
        <p:nvSpPr>
          <p:cNvPr id="8" name="Shape 5"/>
          <p:cNvSpPr/>
          <p:nvPr/>
        </p:nvSpPr>
        <p:spPr>
          <a:xfrm>
            <a:off x="4937760" y="1371600"/>
            <a:ext cx="3291840" cy="2468880"/>
          </a:xfrm>
          <a:prstGeom prst="roundRect">
            <a:avLst>
              <a:gd name="adj" fmla="val 2222"/>
            </a:avLst>
          </a:prstGeom>
          <a:solidFill>
            <a:srgbClr val="FFFFFF"/>
          </a:solidFill>
          <a:ln w="9525">
            <a:solidFill>
              <a:srgbClr val="DDDEDE"/>
            </a:solidFill>
            <a:prstDash val="solid"/>
          </a:ln>
        </p:spPr>
      </p:sp>
      <p:sp>
        <p:nvSpPr>
          <p:cNvPr id="9" name="Text 6"/>
          <p:cNvSpPr txBox="1"/>
          <p:nvPr/>
        </p:nvSpPr>
        <p:spPr>
          <a:xfrm>
            <a:off x="5120640" y="1499616"/>
            <a:ext cx="2926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ORDERVERIFYSCREEN (2A)</a:t>
            </a:r>
            <a:endParaRPr lang="en-US" sz="950" dirty="0"/>
          </a:p>
        </p:txBody>
      </p:sp>
      <p:pic>
        <p:nvPicPr>
          <p:cNvPr id="10" name="Image 1" descr="/Users/xbpkdi/xbpkdi_kucs/321-sa-proj/05-chapter2-platform-testing/img/ui/2A-OrderVerifyScreen.png">    </p:cNvPr>
          <p:cNvPicPr>
            <a:picLocks noChangeAspect="1"/>
          </p:cNvPicPr>
          <p:nvPr/>
        </p:nvPicPr>
        <p:blipFill>
          <a:blip r:embed="rId2"/>
          <a:stretch>
            <a:fillRect/>
          </a:stretch>
        </p:blipFill>
        <p:spPr>
          <a:xfrm>
            <a:off x="5084064" y="1828800"/>
            <a:ext cx="2999232" cy="1874520"/>
          </a:xfrm>
          <a:prstGeom prst="rect">
            <a:avLst/>
          </a:prstGeom>
        </p:spPr>
      </p:pic>
      <p:sp>
        <p:nvSpPr>
          <p:cNvPr id="11" name="Shape 7"/>
          <p:cNvSpPr/>
          <p:nvPr/>
        </p:nvSpPr>
        <p:spPr>
          <a:xfrm>
            <a:off x="8321040" y="1371600"/>
            <a:ext cx="3291840" cy="2468880"/>
          </a:xfrm>
          <a:prstGeom prst="roundRect">
            <a:avLst>
              <a:gd name="adj" fmla="val 2222"/>
            </a:avLst>
          </a:prstGeom>
          <a:solidFill>
            <a:srgbClr val="FFFFFF"/>
          </a:solidFill>
          <a:ln w="9525">
            <a:solidFill>
              <a:srgbClr val="DDDEDE"/>
            </a:solidFill>
            <a:prstDash val="solid"/>
          </a:ln>
        </p:spPr>
      </p:sp>
      <p:sp>
        <p:nvSpPr>
          <p:cNvPr id="12" name="Text 8"/>
          <p:cNvSpPr txBox="1"/>
          <p:nvPr/>
        </p:nvSpPr>
        <p:spPr>
          <a:xfrm>
            <a:off x="8503920" y="1499616"/>
            <a:ext cx="2926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REORDERDECISIONSCREEN (5A, 6A)</a:t>
            </a:r>
            <a:endParaRPr lang="en-US" sz="950" dirty="0"/>
          </a:p>
        </p:txBody>
      </p:sp>
      <p:pic>
        <p:nvPicPr>
          <p:cNvPr id="13" name="Image 2" descr="/Users/xbpkdi/xbpkdi_kucs/321-sa-proj/05-chapter2-platform-testing/img/ui/5A-6A-ReorderDecisionScreen.png">    </p:cNvPr>
          <p:cNvPicPr>
            <a:picLocks noChangeAspect="1"/>
          </p:cNvPicPr>
          <p:nvPr/>
        </p:nvPicPr>
        <p:blipFill>
          <a:blip r:embed="rId3"/>
          <a:stretch>
            <a:fillRect/>
          </a:stretch>
        </p:blipFill>
        <p:spPr>
          <a:xfrm>
            <a:off x="8606421" y="1828800"/>
            <a:ext cx="2721077" cy="1874520"/>
          </a:xfrm>
          <a:prstGeom prst="rect">
            <a:avLst/>
          </a:prstGeom>
        </p:spPr>
      </p:pic>
      <p:sp>
        <p:nvSpPr>
          <p:cNvPr id="14" name="Shape 9"/>
          <p:cNvSpPr/>
          <p:nvPr/>
        </p:nvSpPr>
        <p:spPr>
          <a:xfrm>
            <a:off x="4937760" y="3886200"/>
            <a:ext cx="3291840" cy="2468880"/>
          </a:xfrm>
          <a:prstGeom prst="roundRect">
            <a:avLst>
              <a:gd name="adj" fmla="val 2222"/>
            </a:avLst>
          </a:prstGeom>
          <a:solidFill>
            <a:srgbClr val="FFFFFF"/>
          </a:solidFill>
          <a:ln w="9525">
            <a:solidFill>
              <a:srgbClr val="DDDEDE"/>
            </a:solidFill>
            <a:prstDash val="solid"/>
          </a:ln>
        </p:spPr>
      </p:sp>
      <p:sp>
        <p:nvSpPr>
          <p:cNvPr id="15" name="Text 10"/>
          <p:cNvSpPr txBox="1"/>
          <p:nvPr/>
        </p:nvSpPr>
        <p:spPr>
          <a:xfrm>
            <a:off x="5120640" y="4014216"/>
            <a:ext cx="2926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COSTCALCULATORSCREEN (4S)</a:t>
            </a:r>
            <a:endParaRPr lang="en-US" sz="950" dirty="0"/>
          </a:p>
        </p:txBody>
      </p:sp>
      <p:pic>
        <p:nvPicPr>
          <p:cNvPr id="16" name="Image 3" descr="/Users/xbpkdi/xbpkdi_kucs/321-sa-proj/05-chapter2-platform-testing/img/ui/4S-CostCalculatorScreen.png">    </p:cNvPr>
          <p:cNvPicPr>
            <a:picLocks noChangeAspect="1"/>
          </p:cNvPicPr>
          <p:nvPr/>
        </p:nvPicPr>
        <p:blipFill>
          <a:blip r:embed="rId4"/>
          <a:stretch>
            <a:fillRect/>
          </a:stretch>
        </p:blipFill>
        <p:spPr>
          <a:xfrm>
            <a:off x="5121433" y="4343400"/>
            <a:ext cx="2924495" cy="1874520"/>
          </a:xfrm>
          <a:prstGeom prst="rect">
            <a:avLst/>
          </a:prstGeom>
        </p:spPr>
      </p:pic>
      <p:sp>
        <p:nvSpPr>
          <p:cNvPr id="17" name="Shape 11"/>
          <p:cNvSpPr/>
          <p:nvPr/>
        </p:nvSpPr>
        <p:spPr>
          <a:xfrm>
            <a:off x="8321040" y="3886200"/>
            <a:ext cx="3291840" cy="2468880"/>
          </a:xfrm>
          <a:prstGeom prst="roundRect">
            <a:avLst>
              <a:gd name="adj" fmla="val 2222"/>
            </a:avLst>
          </a:prstGeom>
          <a:solidFill>
            <a:srgbClr val="FFFFFF"/>
          </a:solidFill>
          <a:ln w="9525">
            <a:solidFill>
              <a:srgbClr val="DDDEDE"/>
            </a:solidFill>
            <a:prstDash val="solid"/>
          </a:ln>
        </p:spPr>
      </p:sp>
      <p:sp>
        <p:nvSpPr>
          <p:cNvPr id="18" name="Text 12"/>
          <p:cNvSpPr txBox="1"/>
          <p:nvPr/>
        </p:nvSpPr>
        <p:spPr>
          <a:xfrm>
            <a:off x="8503920" y="4014216"/>
            <a:ext cx="292608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LABELPRINTSCREEN (9A)</a:t>
            </a:r>
            <a:endParaRPr lang="en-US" sz="950" dirty="0"/>
          </a:p>
        </p:txBody>
      </p:sp>
      <p:pic>
        <p:nvPicPr>
          <p:cNvPr id="19" name="Image 4" descr="/Users/xbpkdi/xbpkdi_kucs/321-sa-proj/05-chapter2-platform-testing/img/ui/9A-LabelPrintScreen.png">    </p:cNvPr>
          <p:cNvPicPr>
            <a:picLocks noChangeAspect="1"/>
          </p:cNvPicPr>
          <p:nvPr/>
        </p:nvPicPr>
        <p:blipFill>
          <a:blip r:embed="rId5"/>
          <a:stretch>
            <a:fillRect/>
          </a:stretch>
        </p:blipFill>
        <p:spPr>
          <a:xfrm>
            <a:off x="8467344" y="4343400"/>
            <a:ext cx="2999232" cy="1874520"/>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Output design</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รายงาน 2 ฉบับ</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04 BUILD</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371600"/>
            <a:ext cx="5532120" cy="4983480"/>
          </a:xfrm>
          <a:prstGeom prst="roundRect">
            <a:avLst>
              <a:gd name="adj" fmla="val 1101"/>
            </a:avLst>
          </a:prstGeom>
          <a:solidFill>
            <a:srgbClr val="FFFFFF"/>
          </a:solidFill>
          <a:ln w="9525">
            <a:solidFill>
              <a:srgbClr val="DDDEDE"/>
            </a:solidFill>
            <a:prstDash val="solid"/>
          </a:ln>
        </p:spPr>
      </p:sp>
      <p:sp>
        <p:nvSpPr>
          <p:cNvPr id="6" name="Text 4"/>
          <p:cNvSpPr txBox="1"/>
          <p:nvPr/>
        </p:nvSpPr>
        <p:spPr>
          <a:xfrm>
            <a:off x="685800" y="1499616"/>
            <a:ext cx="516636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SHIPPING LABEL (6S, 9A)</a:t>
            </a:r>
            <a:endParaRPr lang="en-US" sz="950" dirty="0"/>
          </a:p>
        </p:txBody>
      </p:sp>
      <p:pic>
        <p:nvPicPr>
          <p:cNvPr id="7" name="Image 0" descr="/Users/xbpkdi/xbpkdi_kucs/321-sa-proj/05-chapter2-platform-testing/img/report/label-ORD-24178.png">    </p:cNvPr>
          <p:cNvPicPr>
            <a:picLocks noChangeAspect="1"/>
          </p:cNvPicPr>
          <p:nvPr/>
        </p:nvPicPr>
        <p:blipFill>
          <a:blip r:embed="rId1"/>
          <a:stretch>
            <a:fillRect/>
          </a:stretch>
        </p:blipFill>
        <p:spPr>
          <a:xfrm>
            <a:off x="640080" y="2380298"/>
            <a:ext cx="5257800" cy="3286125"/>
          </a:xfrm>
          <a:prstGeom prst="rect">
            <a:avLst/>
          </a:prstGeom>
        </p:spPr>
      </p:pic>
      <p:sp>
        <p:nvSpPr>
          <p:cNvPr id="8" name="Shape 5"/>
          <p:cNvSpPr/>
          <p:nvPr/>
        </p:nvSpPr>
        <p:spPr>
          <a:xfrm>
            <a:off x="6153912" y="1371600"/>
            <a:ext cx="5532120" cy="4983480"/>
          </a:xfrm>
          <a:prstGeom prst="roundRect">
            <a:avLst>
              <a:gd name="adj" fmla="val 1101"/>
            </a:avLst>
          </a:prstGeom>
          <a:solidFill>
            <a:srgbClr val="FFFFFF"/>
          </a:solidFill>
          <a:ln w="9525">
            <a:solidFill>
              <a:srgbClr val="DDDEDE"/>
            </a:solidFill>
            <a:prstDash val="solid"/>
          </a:ln>
        </p:spPr>
      </p:sp>
      <p:sp>
        <p:nvSpPr>
          <p:cNvPr id="9" name="Text 6"/>
          <p:cNvSpPr txBox="1"/>
          <p:nvPr/>
        </p:nvSpPr>
        <p:spPr>
          <a:xfrm>
            <a:off x="6336792" y="1499616"/>
            <a:ext cx="516636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UNIT COST REPORT (4S)</a:t>
            </a:r>
            <a:endParaRPr lang="en-US" sz="950" dirty="0"/>
          </a:p>
        </p:txBody>
      </p:sp>
      <p:pic>
        <p:nvPicPr>
          <p:cNvPr id="10" name="Image 1" descr="/Users/xbpkdi/xbpkdi_kucs/321-sa-proj/05-chapter2-platform-testing/img/report/unit-cost-FSH-MLR-240.png">    </p:cNvPr>
          <p:cNvPicPr>
            <a:picLocks noChangeAspect="1"/>
          </p:cNvPicPr>
          <p:nvPr/>
        </p:nvPicPr>
        <p:blipFill>
          <a:blip r:embed="rId2"/>
          <a:stretch>
            <a:fillRect/>
          </a:stretch>
        </p:blipFill>
        <p:spPr>
          <a:xfrm>
            <a:off x="6291072" y="2380298"/>
            <a:ext cx="5257800" cy="3286125"/>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SQL and testing</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รัน SQL จริงและทดสอบตาม Use Case</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04 TEST</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463040"/>
            <a:ext cx="2651760" cy="1463040"/>
          </a:xfrm>
          <a:prstGeom prst="roundRect">
            <a:avLst>
              <a:gd name="adj" fmla="val 3750"/>
            </a:avLst>
          </a:prstGeom>
          <a:solidFill>
            <a:srgbClr val="FFFFFF"/>
          </a:solidFill>
          <a:ln w="9525">
            <a:solidFill>
              <a:srgbClr val="DDDEDE"/>
            </a:solidFill>
            <a:prstDash val="solid"/>
          </a:ln>
        </p:spPr>
      </p:sp>
      <p:sp>
        <p:nvSpPr>
          <p:cNvPr id="6" name="Text 4"/>
          <p:cNvSpPr txBox="1"/>
          <p:nvPr/>
        </p:nvSpPr>
        <p:spPr>
          <a:xfrm>
            <a:off x="685800" y="1572768"/>
            <a:ext cx="2377440" cy="731520"/>
          </a:xfrm>
          <a:prstGeom prst="rect">
            <a:avLst/>
          </a:prstGeom>
          <a:noFill/>
          <a:ln/>
        </p:spPr>
        <p:txBody>
          <a:bodyPr wrap="square" lIns="0" tIns="0" rIns="0" bIns="0" rtlCol="0" anchor="ctr"/>
          <a:lstStyle/>
          <a:p>
            <a:pPr indent="0" marL="0">
              <a:buNone/>
            </a:pPr>
            <a:r>
              <a:rPr lang="en-US" sz="3200" b="1" dirty="0">
                <a:solidFill>
                  <a:srgbClr val="1868DB"/>
                </a:solidFill>
                <a:latin typeface="Sukhumvit Set" pitchFamily="34" charset="0"/>
                <a:ea typeface="Sukhumvit Set" pitchFamily="34" charset="-122"/>
                <a:cs typeface="Sukhumvit Set" pitchFamily="34" charset="-120"/>
              </a:rPr>
              <a:t>63</a:t>
            </a:r>
            <a:endParaRPr lang="en-US" sz="3200" dirty="0"/>
          </a:p>
        </p:txBody>
      </p:sp>
      <p:sp>
        <p:nvSpPr>
          <p:cNvPr id="7" name="Text 5"/>
          <p:cNvSpPr txBox="1"/>
          <p:nvPr/>
        </p:nvSpPr>
        <p:spPr>
          <a:xfrm>
            <a:off x="685800" y="2311603"/>
            <a:ext cx="2377440" cy="585216"/>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SQL statements เลขตาม Use Case</a:t>
            </a:r>
            <a:endParaRPr lang="en-US" sz="1200" dirty="0"/>
          </a:p>
        </p:txBody>
      </p:sp>
      <p:sp>
        <p:nvSpPr>
          <p:cNvPr id="8" name="Shape 6"/>
          <p:cNvSpPr/>
          <p:nvPr/>
        </p:nvSpPr>
        <p:spPr>
          <a:xfrm>
            <a:off x="3291840" y="1463040"/>
            <a:ext cx="2651760" cy="1463040"/>
          </a:xfrm>
          <a:prstGeom prst="roundRect">
            <a:avLst>
              <a:gd name="adj" fmla="val 3750"/>
            </a:avLst>
          </a:prstGeom>
          <a:solidFill>
            <a:srgbClr val="FFFFFF"/>
          </a:solidFill>
          <a:ln w="9525">
            <a:solidFill>
              <a:srgbClr val="DDDEDE"/>
            </a:solidFill>
            <a:prstDash val="solid"/>
          </a:ln>
        </p:spPr>
      </p:sp>
      <p:sp>
        <p:nvSpPr>
          <p:cNvPr id="9" name="Text 7"/>
          <p:cNvSpPr txBox="1"/>
          <p:nvPr/>
        </p:nvSpPr>
        <p:spPr>
          <a:xfrm>
            <a:off x="3474720" y="1572768"/>
            <a:ext cx="2377440" cy="731520"/>
          </a:xfrm>
          <a:prstGeom prst="rect">
            <a:avLst/>
          </a:prstGeom>
          <a:noFill/>
          <a:ln/>
        </p:spPr>
        <p:txBody>
          <a:bodyPr wrap="square" lIns="0" tIns="0" rIns="0" bIns="0" rtlCol="0" anchor="ctr"/>
          <a:lstStyle/>
          <a:p>
            <a:pPr indent="0" marL="0">
              <a:buNone/>
            </a:pPr>
            <a:r>
              <a:rPr lang="en-US" sz="3200" b="1" dirty="0">
                <a:solidFill>
                  <a:srgbClr val="1868DB"/>
                </a:solidFill>
                <a:latin typeface="Sukhumvit Set" pitchFamily="34" charset="0"/>
                <a:ea typeface="Sukhumvit Set" pitchFamily="34" charset="-122"/>
                <a:cs typeface="Sukhumvit Set" pitchFamily="34" charset="-120"/>
              </a:rPr>
              <a:t>63/63</a:t>
            </a:r>
            <a:endParaRPr lang="en-US" sz="3200" dirty="0"/>
          </a:p>
        </p:txBody>
      </p:sp>
      <p:sp>
        <p:nvSpPr>
          <p:cNvPr id="10" name="Text 8"/>
          <p:cNvSpPr txBox="1"/>
          <p:nvPr/>
        </p:nvSpPr>
        <p:spPr>
          <a:xfrm>
            <a:off x="3474720" y="2311603"/>
            <a:ext cx="2377440" cy="585216"/>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รันผ่านบน PostgreSQL ข้อมูลตัวอย่าง</a:t>
            </a:r>
            <a:endParaRPr lang="en-US" sz="1200" dirty="0"/>
          </a:p>
        </p:txBody>
      </p:sp>
      <p:sp>
        <p:nvSpPr>
          <p:cNvPr id="11" name="Shape 9"/>
          <p:cNvSpPr/>
          <p:nvPr/>
        </p:nvSpPr>
        <p:spPr>
          <a:xfrm>
            <a:off x="502920" y="3063240"/>
            <a:ext cx="2651760" cy="1463040"/>
          </a:xfrm>
          <a:prstGeom prst="roundRect">
            <a:avLst>
              <a:gd name="adj" fmla="val 3750"/>
            </a:avLst>
          </a:prstGeom>
          <a:solidFill>
            <a:srgbClr val="FFFFFF"/>
          </a:solidFill>
          <a:ln w="9525">
            <a:solidFill>
              <a:srgbClr val="DDDEDE"/>
            </a:solidFill>
            <a:prstDash val="solid"/>
          </a:ln>
        </p:spPr>
      </p:sp>
      <p:sp>
        <p:nvSpPr>
          <p:cNvPr id="12" name="Text 10"/>
          <p:cNvSpPr txBox="1"/>
          <p:nvPr/>
        </p:nvSpPr>
        <p:spPr>
          <a:xfrm>
            <a:off x="685800" y="3172968"/>
            <a:ext cx="2377440" cy="731520"/>
          </a:xfrm>
          <a:prstGeom prst="rect">
            <a:avLst/>
          </a:prstGeom>
          <a:noFill/>
          <a:ln/>
        </p:spPr>
        <p:txBody>
          <a:bodyPr wrap="square" lIns="0" tIns="0" rIns="0" bIns="0" rtlCol="0" anchor="ctr"/>
          <a:lstStyle/>
          <a:p>
            <a:pPr indent="0" marL="0">
              <a:buNone/>
            </a:pPr>
            <a:r>
              <a:rPr lang="en-US" sz="3200" b="1" dirty="0">
                <a:solidFill>
                  <a:srgbClr val="FF5A36"/>
                </a:solidFill>
                <a:latin typeface="Sukhumvit Set" pitchFamily="34" charset="0"/>
                <a:ea typeface="Sukhumvit Set" pitchFamily="34" charset="-122"/>
                <a:cs typeface="Sukhumvit Set" pitchFamily="34" charset="-120"/>
              </a:rPr>
              <a:t>34</a:t>
            </a:r>
            <a:endParaRPr lang="en-US" sz="3200" dirty="0"/>
          </a:p>
        </p:txBody>
      </p:sp>
      <p:sp>
        <p:nvSpPr>
          <p:cNvPr id="13" name="Text 11"/>
          <p:cNvSpPr txBox="1"/>
          <p:nvPr/>
        </p:nvSpPr>
        <p:spPr>
          <a:xfrm>
            <a:off x="685800" y="3911803"/>
            <a:ext cx="2377440" cy="585216"/>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กรณีทดสอบ (ปกติ + ผิดพลาด)</a:t>
            </a:r>
            <a:endParaRPr lang="en-US" sz="1200" dirty="0"/>
          </a:p>
        </p:txBody>
      </p:sp>
      <p:sp>
        <p:nvSpPr>
          <p:cNvPr id="14" name="Shape 12"/>
          <p:cNvSpPr/>
          <p:nvPr/>
        </p:nvSpPr>
        <p:spPr>
          <a:xfrm>
            <a:off x="3291840" y="3063240"/>
            <a:ext cx="2651760" cy="1463040"/>
          </a:xfrm>
          <a:prstGeom prst="roundRect">
            <a:avLst>
              <a:gd name="adj" fmla="val 3750"/>
            </a:avLst>
          </a:prstGeom>
          <a:solidFill>
            <a:srgbClr val="FFFFFF"/>
          </a:solidFill>
          <a:ln w="9525">
            <a:solidFill>
              <a:srgbClr val="DDDEDE"/>
            </a:solidFill>
            <a:prstDash val="solid"/>
          </a:ln>
        </p:spPr>
      </p:sp>
      <p:sp>
        <p:nvSpPr>
          <p:cNvPr id="15" name="Text 13"/>
          <p:cNvSpPr txBox="1"/>
          <p:nvPr/>
        </p:nvSpPr>
        <p:spPr>
          <a:xfrm>
            <a:off x="3474720" y="3172968"/>
            <a:ext cx="2377440" cy="731520"/>
          </a:xfrm>
          <a:prstGeom prst="rect">
            <a:avLst/>
          </a:prstGeom>
          <a:noFill/>
          <a:ln/>
        </p:spPr>
        <p:txBody>
          <a:bodyPr wrap="square" lIns="0" tIns="0" rIns="0" bIns="0" rtlCol="0" anchor="ctr"/>
          <a:lstStyle/>
          <a:p>
            <a:pPr indent="0" marL="0">
              <a:buNone/>
            </a:pPr>
            <a:r>
              <a:rPr lang="en-US" sz="3200" b="1" dirty="0">
                <a:solidFill>
                  <a:srgbClr val="FF5A36"/>
                </a:solidFill>
                <a:latin typeface="Sukhumvit Set" pitchFamily="34" charset="0"/>
                <a:ea typeface="Sukhumvit Set" pitchFamily="34" charset="-122"/>
                <a:cs typeface="Sukhumvit Set" pitchFamily="34" charset="-120"/>
              </a:rPr>
              <a:t>34/34</a:t>
            </a:r>
            <a:endParaRPr lang="en-US" sz="3200" dirty="0"/>
          </a:p>
        </p:txBody>
      </p:sp>
      <p:sp>
        <p:nvSpPr>
          <p:cNvPr id="16" name="Text 14"/>
          <p:cNvSpPr txBox="1"/>
          <p:nvPr/>
        </p:nvSpPr>
        <p:spPr>
          <a:xfrm>
            <a:off x="3474720" y="3911803"/>
            <a:ext cx="2377440" cy="585216"/>
          </a:xfrm>
          <a:prstGeom prst="rect">
            <a:avLst/>
          </a:prstGeom>
          <a:noFill/>
          <a:ln/>
        </p:spPr>
        <p:txBody>
          <a:bodyPr wrap="square" lIns="0" tIns="0" rIns="0" bIns="0" rtlCol="0" anchor="t"/>
          <a:lstStyle/>
          <a:p>
            <a:pPr indent="0" marL="0">
              <a:buNone/>
            </a:pPr>
            <a:r>
              <a:rPr lang="en-US" sz="1200" dirty="0">
                <a:solidFill>
                  <a:srgbClr val="505258"/>
                </a:solidFill>
                <a:latin typeface="Sukhumvit Set" pitchFamily="34" charset="0"/>
                <a:ea typeface="Sukhumvit Set" pitchFamily="34" charset="-122"/>
                <a:cs typeface="Sukhumvit Set" pitchFamily="34" charset="-120"/>
              </a:rPr>
              <a:t>ผ่านทุกกรณี</a:t>
            </a:r>
            <a:endParaRPr lang="en-US" sz="1200" dirty="0"/>
          </a:p>
        </p:txBody>
      </p:sp>
      <p:sp>
        <p:nvSpPr>
          <p:cNvPr id="17" name="Shape 15"/>
          <p:cNvSpPr/>
          <p:nvPr/>
        </p:nvSpPr>
        <p:spPr>
          <a:xfrm>
            <a:off x="502920" y="4663440"/>
            <a:ext cx="5440680" cy="1691640"/>
          </a:xfrm>
          <a:prstGeom prst="roundRect">
            <a:avLst>
              <a:gd name="adj" fmla="val 3243"/>
            </a:avLst>
          </a:prstGeom>
          <a:solidFill>
            <a:srgbClr val="FFFFFF"/>
          </a:solidFill>
          <a:ln w="9525">
            <a:solidFill>
              <a:srgbClr val="DDDEDE"/>
            </a:solidFill>
            <a:prstDash val="solid"/>
          </a:ln>
        </p:spPr>
      </p:sp>
      <p:sp>
        <p:nvSpPr>
          <p:cNvPr id="18" name="Text 16"/>
          <p:cNvSpPr txBox="1"/>
          <p:nvPr/>
        </p:nvSpPr>
        <p:spPr>
          <a:xfrm>
            <a:off x="685800" y="4791456"/>
            <a:ext cx="5074920"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วิธีทดสอบ</a:t>
            </a:r>
            <a:endParaRPr lang="en-US" sz="950" dirty="0"/>
          </a:p>
        </p:txBody>
      </p:sp>
      <p:sp>
        <p:nvSpPr>
          <p:cNvPr id="19" name="Text 17"/>
          <p:cNvSpPr txBox="1"/>
          <p:nvPr/>
        </p:nvSpPr>
        <p:spPr>
          <a:xfrm>
            <a:off x="731520" y="5074920"/>
            <a:ext cx="5029200" cy="1188720"/>
          </a:xfrm>
          <a:prstGeom prst="rect">
            <a:avLst/>
          </a:prstGeom>
          <a:noFill/>
          <a:ln/>
        </p:spPr>
        <p:txBody>
          <a:bodyPr wrap="square" lIns="0" tIns="0" rIns="0" bIns="0" rtlCol="0" anchor="t"/>
          <a:lstStyle/>
          <a:p>
            <a:pPr indent="0" marL="0">
              <a:buNone/>
            </a:pPr>
            <a:r>
              <a:rPr lang="en-US" sz="1300" dirty="0">
                <a:solidFill>
                  <a:srgbClr val="292A2E"/>
                </a:solidFill>
                <a:latin typeface="Sukhumvit Set" pitchFamily="34" charset="0"/>
                <a:ea typeface="Sukhumvit Set" pitchFamily="34" charset="-122"/>
                <a:cs typeface="Sukhumvit Set" pitchFamily="34" charset="-120"/>
              </a:rPr>
              <a:t>ข้อความที่คาดหวังคัดจาก Use Case Description คำต่อคำ กรณีระบบภายนอกล่มจำลองด้วยหน้า /dev</a:t>
            </a:r>
            <a:endParaRPr lang="en-US" sz="1300" dirty="0"/>
          </a:p>
        </p:txBody>
      </p:sp>
      <p:sp>
        <p:nvSpPr>
          <p:cNvPr id="20" name="Shape 18"/>
          <p:cNvSpPr/>
          <p:nvPr/>
        </p:nvSpPr>
        <p:spPr>
          <a:xfrm>
            <a:off x="6080760" y="1371600"/>
            <a:ext cx="5605272" cy="4983480"/>
          </a:xfrm>
          <a:prstGeom prst="roundRect">
            <a:avLst>
              <a:gd name="adj" fmla="val 1101"/>
            </a:avLst>
          </a:prstGeom>
          <a:solidFill>
            <a:srgbClr val="FFFFFF"/>
          </a:solidFill>
          <a:ln w="9525">
            <a:solidFill>
              <a:srgbClr val="DDDEDE"/>
            </a:solidFill>
            <a:prstDash val="solid"/>
          </a:ln>
        </p:spPr>
      </p:sp>
      <p:sp>
        <p:nvSpPr>
          <p:cNvPr id="21" name="Text 19"/>
          <p:cNvSpPr txBox="1"/>
          <p:nvPr/>
        </p:nvSpPr>
        <p:spPr>
          <a:xfrm>
            <a:off x="6263640" y="1499616"/>
            <a:ext cx="5239512" cy="256032"/>
          </a:xfrm>
          <a:prstGeom prst="rect">
            <a:avLst/>
          </a:prstGeom>
          <a:noFill/>
          <a:ln/>
        </p:spPr>
        <p:txBody>
          <a:bodyPr wrap="square" lIns="0" tIns="0" rIns="0" bIns="0" rtlCol="0" anchor="t"/>
          <a:lstStyle/>
          <a:p>
            <a:pPr indent="0" marL="0">
              <a:buNone/>
            </a:pPr>
            <a:r>
              <a:rPr lang="en-US" sz="950" b="1" spc="100" kern="0" dirty="0">
                <a:solidFill>
                  <a:srgbClr val="1868DB"/>
                </a:solidFill>
                <a:latin typeface="Sukhumvit Set" pitchFamily="34" charset="0"/>
                <a:ea typeface="Sukhumvit Set" pitchFamily="34" charset="-122"/>
                <a:cs typeface="Sukhumvit Set" pitchFamily="34" charset="-120"/>
              </a:rPr>
              <a:t>5A: บันทึกผลการตัดสินใจสำเร็จ</a:t>
            </a:r>
            <a:endParaRPr lang="en-US" sz="950" dirty="0"/>
          </a:p>
        </p:txBody>
      </p:sp>
      <p:pic>
        <p:nvPicPr>
          <p:cNvPr id="22" name="Image 0" descr="/Users/xbpkdi/xbpkdi_kucs/321-sa-proj/05-chapter2-platform-testing/img/test/5A-ok.png">    </p:cNvPr>
          <p:cNvPicPr>
            <a:picLocks noChangeAspect="1"/>
          </p:cNvPicPr>
          <p:nvPr/>
        </p:nvPicPr>
        <p:blipFill>
          <a:blip r:embed="rId1"/>
          <a:stretch>
            <a:fillRect/>
          </a:stretch>
        </p:blipFill>
        <p:spPr>
          <a:xfrm>
            <a:off x="6217920" y="2357438"/>
            <a:ext cx="5330952" cy="3331845"/>
          </a:xfrm>
          <a:prstGeom prst="rect">
            <a:avLst/>
          </a:prstGeom>
        </p:spPr>
      </p:pic>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p:nvPr>
            <p:ph idx="105" type="title" hasCustomPrompt="1"/>
          </p:nvPr>
        </p:nvSpPr>
        <p:spPr>
          <a:xfrm>
            <a:off x="704088" y="329184"/>
            <a:ext cx="10984687" cy="548640"/>
          </a:xfrm>
          <a:prstGeom prst="rect">
            <a:avLst/>
          </a:prstGeom>
          <a:noFill/>
          <a:ln/>
        </p:spPr>
        <p:txBody>
          <a:bodyPr wrap="square" lIns="0" tIns="0" rIns="0" bIns="0" rtlCol="0" anchor="ctr"/>
          <a:lstStyle/>
          <a:p>
            <a:pPr algn="l" indent="0" marL="0">
              <a:buNone/>
            </a:pPr>
            <a:r>
              <a:rPr lang="en-US" sz="2400" b="1" dirty="0">
                <a:solidFill>
                  <a:srgbClr val="292A2E"/>
                </a:solidFill>
                <a:latin typeface="Sukhumvit Set" pitchFamily="34" charset="0"/>
                <a:ea typeface="Sukhumvit Set" pitchFamily="34" charset="-122"/>
                <a:cs typeface="Sukhumvit Set" pitchFamily="34" charset="-120"/>
              </a:rPr>
              <a:t>Summary</a:t>
            </a:r>
            <a:pPr algn="l" indent="0" marL="0">
              <a:buNone/>
            </a:pPr>
            <a:r>
              <a:rPr lang="en-US" sz="1500" b="1" dirty="0">
                <a:solidFill>
                  <a:srgbClr val="505258"/>
                </a:solidFill>
                <a:latin typeface="Sukhumvit Set" pitchFamily="34" charset="0"/>
                <a:ea typeface="Sukhumvit Set" pitchFamily="34" charset="-122"/>
                <a:cs typeface="Sukhumvit Set" pitchFamily="34" charset="-120"/>
              </a:rPr>
              <a:t>   สรุป</a:t>
            </a:r>
            <a:endParaRPr lang="en-US" sz="2400" dirty="0"/>
          </a:p>
        </p:txBody>
      </p:sp>
      <p:sp>
        <p:nvSpPr>
          <p:cNvPr id="3" name="Text 1"/>
          <p:cNvSpPr txBox="1"/>
          <p:nvPr/>
        </p:nvSpPr>
        <p:spPr>
          <a:xfrm>
            <a:off x="502920" y="73152"/>
            <a:ext cx="7315200" cy="237744"/>
          </a:xfrm>
          <a:prstGeom prst="rect">
            <a:avLst/>
          </a:prstGeom>
          <a:noFill/>
          <a:ln/>
        </p:spPr>
        <p:txBody>
          <a:bodyPr wrap="square" lIns="0" tIns="0" rIns="0" bIns="0" rtlCol="0" anchor="t"/>
          <a:lstStyle/>
          <a:p>
            <a:pPr indent="0" marL="0">
              <a:buNone/>
            </a:pPr>
            <a:r>
              <a:rPr lang="en-US" sz="900" b="1" spc="150" kern="0" dirty="0">
                <a:solidFill>
                  <a:srgbClr val="1868DB"/>
                </a:solidFill>
                <a:latin typeface="Sukhumvit Set" pitchFamily="34" charset="0"/>
                <a:ea typeface="Sukhumvit Set" pitchFamily="34" charset="-122"/>
                <a:cs typeface="Sukhumvit Set" pitchFamily="34" charset="-120"/>
              </a:rPr>
              <a:t>SUMMARY</a:t>
            </a:r>
            <a:endParaRPr lang="en-US" sz="900" dirty="0"/>
          </a:p>
        </p:txBody>
      </p:sp>
      <p:sp>
        <p:nvSpPr>
          <p:cNvPr id="4" name="Text 2"/>
          <p:cNvSpPr txBox="1"/>
          <p:nvPr/>
        </p:nvSpPr>
        <p:spPr>
          <a:xfrm>
            <a:off x="502920" y="6492240"/>
            <a:ext cx="5486400" cy="365760"/>
          </a:xfrm>
          <a:prstGeom prst="rect">
            <a:avLst/>
          </a:prstGeom>
          <a:noFill/>
          <a:ln/>
        </p:spPr>
        <p:txBody>
          <a:bodyPr wrap="square" lIns="0" tIns="0" rIns="0" bIns="0" rtlCol="0" anchor="ctr"/>
          <a:lstStyle/>
          <a:p>
            <a:pPr indent="0" marL="0">
              <a:buNone/>
            </a:pPr>
            <a:r>
              <a:rPr lang="en-US" sz="900" dirty="0">
                <a:solidFill>
                  <a:srgbClr val="B7B9BE"/>
                </a:solidFill>
                <a:latin typeface="Sukhumvit Set" pitchFamily="34" charset="0"/>
                <a:ea typeface="Sukhumvit Set" pitchFamily="34" charset="-122"/>
                <a:cs typeface="Sukhumvit Set" pitchFamily="34" charset="-120"/>
              </a:rPr>
              <a:t>Colorado Co., Ltd. · 01418321</a:t>
            </a:r>
            <a:endParaRPr lang="en-US" sz="900" dirty="0"/>
          </a:p>
        </p:txBody>
      </p:sp>
      <p:sp>
        <p:nvSpPr>
          <p:cNvPr id="5" name="Shape 3"/>
          <p:cNvSpPr/>
          <p:nvPr/>
        </p:nvSpPr>
        <p:spPr>
          <a:xfrm>
            <a:off x="502920" y="1645920"/>
            <a:ext cx="3611880" cy="3291840"/>
          </a:xfrm>
          <a:prstGeom prst="roundRect">
            <a:avLst>
              <a:gd name="adj" fmla="val 1667"/>
            </a:avLst>
          </a:prstGeom>
          <a:solidFill>
            <a:srgbClr val="FFFFFF"/>
          </a:solidFill>
          <a:ln w="9525">
            <a:solidFill>
              <a:srgbClr val="DDDEDE"/>
            </a:solidFill>
            <a:prstDash val="solid"/>
          </a:ln>
        </p:spPr>
      </p:sp>
      <p:sp>
        <p:nvSpPr>
          <p:cNvPr id="6" name="Text 4"/>
          <p:cNvSpPr txBox="1"/>
          <p:nvPr/>
        </p:nvSpPr>
        <p:spPr>
          <a:xfrm>
            <a:off x="731520" y="1828800"/>
            <a:ext cx="3200400" cy="548640"/>
          </a:xfrm>
          <a:prstGeom prst="rect">
            <a:avLst/>
          </a:prstGeom>
          <a:noFill/>
          <a:ln/>
        </p:spPr>
        <p:txBody>
          <a:bodyPr wrap="square" lIns="0" tIns="0" rIns="0" bIns="0" rtlCol="0" anchor="t"/>
          <a:lstStyle/>
          <a:p>
            <a:pPr indent="0" marL="0">
              <a:buNone/>
            </a:pPr>
            <a:r>
              <a:rPr lang="en-US" sz="2600" b="1" dirty="0">
                <a:solidFill>
                  <a:srgbClr val="FF5A36"/>
                </a:solidFill>
                <a:latin typeface="Sukhumvit Set" pitchFamily="34" charset="0"/>
                <a:ea typeface="Sukhumvit Set" pitchFamily="34" charset="-122"/>
                <a:cs typeface="Sukhumvit Set" pitchFamily="34" charset="-120"/>
              </a:rPr>
              <a:t>Before</a:t>
            </a:r>
            <a:endParaRPr lang="en-US" sz="2600" dirty="0"/>
          </a:p>
        </p:txBody>
      </p:sp>
      <p:sp>
        <p:nvSpPr>
          <p:cNvPr id="7" name="Text 5"/>
          <p:cNvSpPr txBox="1"/>
          <p:nvPr/>
        </p:nvSpPr>
        <p:spPr>
          <a:xfrm>
            <a:off x="731520" y="2560320"/>
            <a:ext cx="3200400" cy="2194560"/>
          </a:xfrm>
          <a:prstGeom prst="rect">
            <a:avLst/>
          </a:prstGeom>
          <a:noFill/>
          <a:ln/>
        </p:spPr>
        <p:txBody>
          <a:bodyPr wrap="square" lIns="0" tIns="0" rIns="0" bIns="0" rtlCol="0" anchor="t"/>
          <a:lstStyle/>
          <a:p>
            <a:pPr indent="0" marL="0">
              <a:buNone/>
            </a:pPr>
            <a:r>
              <a:rPr lang="en-US" sz="1600" dirty="0">
                <a:solidFill>
                  <a:srgbClr val="292A2E"/>
                </a:solidFill>
                <a:latin typeface="Sukhumvit Set" pitchFamily="34" charset="0"/>
                <a:ea typeface="Sukhumvit Set" pitchFamily="34" charset="-122"/>
                <a:cs typeface="Sukhumvit Set" pitchFamily="34" charset="-120"/>
              </a:rPr>
              <a:t>งานมือ 1–2 ชม./วัน (ประมาณการ) ตัดสินใจสั่งซื้อด้วยความรู้สึก</a:t>
            </a:r>
            <a:endParaRPr lang="en-US" sz="1600" dirty="0"/>
          </a:p>
        </p:txBody>
      </p:sp>
      <p:sp>
        <p:nvSpPr>
          <p:cNvPr id="8" name="Shape 6"/>
          <p:cNvSpPr/>
          <p:nvPr/>
        </p:nvSpPr>
        <p:spPr>
          <a:xfrm>
            <a:off x="4251960" y="1645920"/>
            <a:ext cx="3611880" cy="3291840"/>
          </a:xfrm>
          <a:prstGeom prst="roundRect">
            <a:avLst>
              <a:gd name="adj" fmla="val 1667"/>
            </a:avLst>
          </a:prstGeom>
          <a:solidFill>
            <a:srgbClr val="FFFFFF"/>
          </a:solidFill>
          <a:ln w="9525">
            <a:solidFill>
              <a:srgbClr val="DDDEDE"/>
            </a:solidFill>
            <a:prstDash val="solid"/>
          </a:ln>
        </p:spPr>
      </p:sp>
      <p:sp>
        <p:nvSpPr>
          <p:cNvPr id="9" name="Text 7"/>
          <p:cNvSpPr txBox="1"/>
          <p:nvPr/>
        </p:nvSpPr>
        <p:spPr>
          <a:xfrm>
            <a:off x="4480560" y="1828800"/>
            <a:ext cx="3200400" cy="548640"/>
          </a:xfrm>
          <a:prstGeom prst="rect">
            <a:avLst/>
          </a:prstGeom>
          <a:noFill/>
          <a:ln/>
        </p:spPr>
        <p:txBody>
          <a:bodyPr wrap="square" lIns="0" tIns="0" rIns="0" bIns="0" rtlCol="0" anchor="t"/>
          <a:lstStyle/>
          <a:p>
            <a:pPr indent="0" marL="0">
              <a:buNone/>
            </a:pPr>
            <a:r>
              <a:rPr lang="en-US" sz="2600" b="1" dirty="0">
                <a:solidFill>
                  <a:srgbClr val="1868DB"/>
                </a:solidFill>
                <a:latin typeface="Sukhumvit Set" pitchFamily="34" charset="0"/>
                <a:ea typeface="Sukhumvit Set" pitchFamily="34" charset="-122"/>
                <a:cs typeface="Sukhumvit Set" pitchFamily="34" charset="-120"/>
              </a:rPr>
              <a:t>After</a:t>
            </a:r>
            <a:endParaRPr lang="en-US" sz="2600" dirty="0"/>
          </a:p>
        </p:txBody>
      </p:sp>
      <p:sp>
        <p:nvSpPr>
          <p:cNvPr id="10" name="Text 8"/>
          <p:cNvSpPr txBox="1"/>
          <p:nvPr/>
        </p:nvSpPr>
        <p:spPr>
          <a:xfrm>
            <a:off x="4480560" y="2560320"/>
            <a:ext cx="3200400" cy="2194560"/>
          </a:xfrm>
          <a:prstGeom prst="rect">
            <a:avLst/>
          </a:prstGeom>
          <a:noFill/>
          <a:ln/>
        </p:spPr>
        <p:txBody>
          <a:bodyPr wrap="square" lIns="0" tIns="0" rIns="0" bIns="0" rtlCol="0" anchor="t"/>
          <a:lstStyle/>
          <a:p>
            <a:pPr indent="0" marL="0">
              <a:buNone/>
            </a:pPr>
            <a:r>
              <a:rPr lang="en-US" sz="1600" dirty="0">
                <a:solidFill>
                  <a:srgbClr val="292A2E"/>
                </a:solidFill>
                <a:latin typeface="Sukhumvit Set" pitchFamily="34" charset="0"/>
                <a:ea typeface="Sukhumvit Set" pitchFamily="34" charset="-122"/>
                <a:cs typeface="Sukhumvit Set" pitchFamily="34" charset="-120"/>
              </a:rPr>
              <a:t>ระบบทำ 7 Use Case เอง เจ้าของเหลือแค่ตรวจ อนุมัติ พิมพ์ และส่งมอบ</a:t>
            </a:r>
            <a:endParaRPr lang="en-US" sz="1600" dirty="0"/>
          </a:p>
        </p:txBody>
      </p:sp>
      <p:sp>
        <p:nvSpPr>
          <p:cNvPr id="11" name="Shape 9"/>
          <p:cNvSpPr/>
          <p:nvPr/>
        </p:nvSpPr>
        <p:spPr>
          <a:xfrm>
            <a:off x="8001000" y="1645920"/>
            <a:ext cx="3611880" cy="3291840"/>
          </a:xfrm>
          <a:prstGeom prst="roundRect">
            <a:avLst>
              <a:gd name="adj" fmla="val 1667"/>
            </a:avLst>
          </a:prstGeom>
          <a:solidFill>
            <a:srgbClr val="FFFFFF"/>
          </a:solidFill>
          <a:ln w="9525">
            <a:solidFill>
              <a:srgbClr val="DDDEDE"/>
            </a:solidFill>
            <a:prstDash val="solid"/>
          </a:ln>
        </p:spPr>
      </p:sp>
      <p:sp>
        <p:nvSpPr>
          <p:cNvPr id="12" name="Text 10"/>
          <p:cNvSpPr txBox="1"/>
          <p:nvPr/>
        </p:nvSpPr>
        <p:spPr>
          <a:xfrm>
            <a:off x="8229600" y="1828800"/>
            <a:ext cx="3200400" cy="548640"/>
          </a:xfrm>
          <a:prstGeom prst="rect">
            <a:avLst/>
          </a:prstGeom>
          <a:noFill/>
          <a:ln/>
        </p:spPr>
        <p:txBody>
          <a:bodyPr wrap="square" lIns="0" tIns="0" rIns="0" bIns="0" rtlCol="0" anchor="t"/>
          <a:lstStyle/>
          <a:p>
            <a:pPr indent="0" marL="0">
              <a:buNone/>
            </a:pPr>
            <a:r>
              <a:rPr lang="en-US" sz="2600" b="1" dirty="0">
                <a:solidFill>
                  <a:srgbClr val="505258"/>
                </a:solidFill>
                <a:latin typeface="Sukhumvit Set" pitchFamily="34" charset="0"/>
                <a:ea typeface="Sukhumvit Set" pitchFamily="34" charset="-122"/>
                <a:cs typeface="Sukhumvit Set" pitchFamily="34" charset="-120"/>
              </a:rPr>
              <a:t>Next</a:t>
            </a:r>
            <a:endParaRPr lang="en-US" sz="2600" dirty="0"/>
          </a:p>
        </p:txBody>
      </p:sp>
      <p:sp>
        <p:nvSpPr>
          <p:cNvPr id="13" name="Text 11"/>
          <p:cNvSpPr txBox="1"/>
          <p:nvPr/>
        </p:nvSpPr>
        <p:spPr>
          <a:xfrm>
            <a:off x="8229600" y="2560320"/>
            <a:ext cx="3200400" cy="2194560"/>
          </a:xfrm>
          <a:prstGeom prst="rect">
            <a:avLst/>
          </a:prstGeom>
          <a:noFill/>
          <a:ln/>
        </p:spPr>
        <p:txBody>
          <a:bodyPr wrap="square" lIns="0" tIns="0" rIns="0" bIns="0" rtlCol="0" anchor="t"/>
          <a:lstStyle/>
          <a:p>
            <a:pPr indent="0" marL="0">
              <a:buNone/>
            </a:pPr>
            <a:r>
              <a:rPr lang="en-US" sz="1600" dirty="0">
                <a:solidFill>
                  <a:srgbClr val="292A2E"/>
                </a:solidFill>
                <a:latin typeface="Sukhumvit Set" pitchFamily="34" charset="0"/>
                <a:ea typeface="Sukhumvit Set" pitchFamily="34" charset="-122"/>
                <a:cs typeface="Sukhumvit Set" pitchFamily="34" charset="-120"/>
              </a:rPr>
              <a:t>เชื่อมฐานข้อมูลจริง ต่อ Rakuten RMS API จริง แล้วขยายไป Yahoo! Auctions และ Amazon</a:t>
            </a:r>
            <a:endParaRPr lang="en-US" sz="1600" dirty="0"/>
          </a:p>
        </p:txBody>
      </p:sp>
      <p:sp>
        <p:nvSpPr>
          <p:cNvPr id="25" name="Slide Number Placeholder 0"/>
          <p:cNvSpPr>
            <a:spLocks noGrp="1"/>
          </p:cNvSpPr>
          <p:nvPr>
            <p:ph type="sldNum" sz="quarter" idx="4294967295"/>
          </p:nvPr>
        </p:nvSpPr>
        <p:spPr>
          <a:xfrm>
            <a:off x="11064240" y="6519672"/>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FFFFFF"/>
                </a:solidFill>
                <a:latin typeface="Sukhumvit Set"/>
                <a:ea typeface="Sukhumvit Set"/>
                <a:cs typeface="Sukhumvit Set"/>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868DB"/>
          </a:solidFill>
          <a:ln w="12700">
            <a:solidFill>
              <a:srgbClr val="1868DB"/>
            </a:solidFill>
            <a:prstDash val="solid"/>
          </a:ln>
        </p:spPr>
      </p:sp>
      <p:sp>
        <p:nvSpPr>
          <p:cNvPr id="3" name="Text 1"/>
          <p:cNvSpPr txBox="1"/>
          <p:nvPr/>
        </p:nvSpPr>
        <p:spPr>
          <a:xfrm>
            <a:off x="685800" y="2194560"/>
            <a:ext cx="7315200" cy="1280160"/>
          </a:xfrm>
          <a:prstGeom prst="rect">
            <a:avLst/>
          </a:prstGeom>
          <a:noFill/>
          <a:ln/>
        </p:spPr>
        <p:txBody>
          <a:bodyPr wrap="square" lIns="0" tIns="0" rIns="0" bIns="0" rtlCol="0" anchor="t"/>
          <a:lstStyle/>
          <a:p>
            <a:pPr indent="0" marL="0">
              <a:buNone/>
            </a:pPr>
            <a:r>
              <a:rPr lang="en-US" sz="6400" b="1" dirty="0">
                <a:solidFill>
                  <a:srgbClr val="292A2E"/>
                </a:solidFill>
                <a:latin typeface="Sukhumvit Set" pitchFamily="34" charset="0"/>
                <a:ea typeface="Sukhumvit Set" pitchFamily="34" charset="-122"/>
                <a:cs typeface="Sukhumvit Set" pitchFamily="34" charset="-120"/>
              </a:rPr>
              <a:t>Q&amp;A</a:t>
            </a:r>
            <a:pPr indent="0" marL="0">
              <a:buNone/>
            </a:pPr>
            <a:r>
              <a:rPr lang="en-US" sz="6400" b="1" dirty="0">
                <a:solidFill>
                  <a:srgbClr val="FF5A36"/>
                </a:solidFill>
                <a:latin typeface="Sukhumvit Set" pitchFamily="34" charset="0"/>
                <a:ea typeface="Sukhumvit Set" pitchFamily="34" charset="-122"/>
                <a:cs typeface="Sukhumvit Set" pitchFamily="34" charset="-120"/>
              </a:rPr>
              <a:t>.</a:t>
            </a:r>
            <a:endParaRPr lang="en-US" sz="6400" dirty="0"/>
          </a:p>
        </p:txBody>
      </p:sp>
      <p:sp>
        <p:nvSpPr>
          <p:cNvPr id="4" name="Text 2"/>
          <p:cNvSpPr txBox="1"/>
          <p:nvPr/>
        </p:nvSpPr>
        <p:spPr>
          <a:xfrm>
            <a:off x="685800" y="3566160"/>
            <a:ext cx="7315200" cy="548640"/>
          </a:xfrm>
          <a:prstGeom prst="rect">
            <a:avLst/>
          </a:prstGeom>
          <a:noFill/>
          <a:ln/>
        </p:spPr>
        <p:txBody>
          <a:bodyPr wrap="square" lIns="0" tIns="0" rIns="0" bIns="0" rtlCol="0" anchor="t"/>
          <a:lstStyle/>
          <a:p>
            <a:pPr indent="0" marL="0">
              <a:buNone/>
            </a:pPr>
            <a:r>
              <a:rPr lang="en-US" sz="2200" dirty="0">
                <a:solidFill>
                  <a:srgbClr val="505258"/>
                </a:solidFill>
                <a:latin typeface="Sukhumvit Set" pitchFamily="34" charset="0"/>
                <a:ea typeface="Sukhumvit Set" pitchFamily="34" charset="-122"/>
                <a:cs typeface="Sukhumvit Set" pitchFamily="34" charset="-120"/>
              </a:rPr>
              <a:t>ขอบคุณครับ/ค่ะ</a:t>
            </a:r>
            <a:endParaRPr lang="en-US" sz="2200" dirty="0"/>
          </a:p>
        </p:txBody>
      </p:sp>
      <p:sp>
        <p:nvSpPr>
          <p:cNvPr id="25" name="Slide Number Placeholder 0"/>
          <p:cNvSpPr>
            <a:spLocks noGrp="1"/>
          </p:cNvSpPr>
          <p:nvPr>
            <p:ph type="sldNum" sz="quarter" idx="4294967295"/>
          </p:nvPr>
        </p:nvSpPr>
        <p:spPr>
          <a:xfrm>
            <a:off x="11064240" y="6446520"/>
            <a:ext cx="640080" cy="310896"/>
          </a:xfrm>
          <a:prstGeom prst="rect">
            <a:avLst/>
          </a:prstGeom>
          <a:extLst>
            <a:ext uri="{C572A759-6A51-4108-AA02-DFA0A04FC94B}">
              <ma14:wrappingTextBoxFlag xmlns:ma14="http://schemas.microsoft.com/office/mac/drawingml/2011/main" val="0"/>
            </a:ext>
          </a:extLst>
        </p:spPr>
        <p:txBody>
          <a:bodyPr anchor="ctr"/>
          <a:lstStyle>
            <a:lvl1pPr>
              <a:defRPr sz="1100">
                <a:solidFill>
                  <a:srgbClr val="505258"/>
                </a:solidFill>
                <a:latin typeface="Sukhumvit Set"/>
                <a:ea typeface="Sukhumvit Set"/>
                <a:cs typeface="Sukhumvit Set"/>
              </a:defRPr>
            </a:lvl1pPr>
          </a:lstStyle>
          <a:p>
            <a:pPr algn="ctr"/>
            <a:fld id="{F7021451-1387-4CA6-816F-3879F97B5CBC}" type="slidenum">
              <a:rPr b="1"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ukhumvit Se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ukhumvit Se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Back-Office System</dc:title>
  <dc:subject>PptxGenJS Presentation</dc:subject>
  <dc:creator>PptxGenJS</dc:creator>
  <cp:lastModifiedBy>PptxGenJS</cp:lastModifiedBy>
  <cp:revision>1</cp:revision>
  <dcterms:created xsi:type="dcterms:W3CDTF">2026-10-14T17:48:12Z</dcterms:created>
  <dcterms:modified xsi:type="dcterms:W3CDTF">2026-10-14T17:48:12Z</dcterms:modified>
</cp:coreProperties>
</file>